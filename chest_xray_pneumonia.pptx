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embeddedFontLst>
    <p:embeddedFont>
      <p:font typeface="Raleway"/>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gfKLRrAjKNsi6Cq3dnPNFjFspX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6CA02C-15E5-4BA8-88A9-FE3F898A0D4D}">
  <a:tblStyle styleId="{186CA02C-15E5-4BA8-88A9-FE3F898A0D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bold.fntdata"/><Relationship Id="rId10" Type="http://schemas.openxmlformats.org/officeDocument/2006/relationships/slide" Target="slides/slide4.xml"/><Relationship Id="rId32" Type="http://schemas.openxmlformats.org/officeDocument/2006/relationships/font" Target="fonts/Raleway-regular.fntdata"/><Relationship Id="rId13" Type="http://schemas.openxmlformats.org/officeDocument/2006/relationships/slide" Target="slides/slide7.xml"/><Relationship Id="rId35" Type="http://schemas.openxmlformats.org/officeDocument/2006/relationships/font" Target="fonts/Raleway-boldItalic.fntdata"/><Relationship Id="rId12" Type="http://schemas.openxmlformats.org/officeDocument/2006/relationships/slide" Target="slides/slide6.xml"/><Relationship Id="rId34" Type="http://schemas.openxmlformats.org/officeDocument/2006/relationships/font" Target="fonts/Raleway-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Today we’ll present our project on chest X-ray pneumonia classification using both traditional machine learning and modern deep learning architectures.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compare four approaches:</a:t>
            </a:r>
            <a:endParaRPr/>
          </a:p>
          <a:p>
            <a:pPr indent="0" lvl="0" marL="0" rtl="0" algn="l">
              <a:spcBef>
                <a:spcPts val="0"/>
              </a:spcBef>
              <a:spcAft>
                <a:spcPts val="0"/>
              </a:spcAft>
              <a:buNone/>
            </a:pPr>
            <a:r>
              <a:rPr lang="en-US"/>
              <a:t>1. Logistic Regression</a:t>
            </a:r>
            <a:endParaRPr/>
          </a:p>
          <a:p>
            <a:pPr indent="0" lvl="0" marL="0" rtl="0" algn="l">
              <a:spcBef>
                <a:spcPts val="0"/>
              </a:spcBef>
              <a:spcAft>
                <a:spcPts val="0"/>
              </a:spcAft>
              <a:buNone/>
            </a:pPr>
            <a:r>
              <a:rPr lang="en-US"/>
              <a:t>2. CNNs</a:t>
            </a:r>
            <a:endParaRPr/>
          </a:p>
          <a:p>
            <a:pPr indent="0" lvl="0" marL="0" rtl="0" algn="l">
              <a:spcBef>
                <a:spcPts val="0"/>
              </a:spcBef>
              <a:spcAft>
                <a:spcPts val="0"/>
              </a:spcAft>
              <a:buNone/>
            </a:pPr>
            <a:r>
              <a:rPr lang="en-US"/>
              <a:t>3. Vision Transformers</a:t>
            </a:r>
            <a:endParaRPr/>
          </a:p>
          <a:p>
            <a:pPr indent="0" lvl="0" marL="0" rtl="0" algn="l">
              <a:spcBef>
                <a:spcPts val="0"/>
              </a:spcBef>
              <a:spcAft>
                <a:spcPts val="0"/>
              </a:spcAft>
              <a:buNone/>
            </a:pPr>
            <a:r>
              <a:rPr lang="en-US"/>
              <a:t>4. A custom hybrid CNN + ViT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1" name="Google Shape;91;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8" name="Google Shape;98;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2" name="Google Shape;11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5bba8efbe_0_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g3e5bba8efbe_0_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e5bba8efbe_0_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db8241e93_0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g3ddb8241e93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ddb8241e93_0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f8903fd6d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g3df8903fd6d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df8903fd6d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db8241e93_0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ddb8241e93_0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4" name="Google Shape;154;g3ddb8241e93_0_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5bba8efbe_0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3e5bba8efbe_0_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e5bba8efbe_0_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solidFill>
                  <a:schemeClr val="dk1"/>
                </a:solidFill>
              </a:rPr>
              <a:t>cnn.py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- 3 classes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pre-trained imagenet weights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feature extractor layers are not frozen, based on hyperparameter tuning results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classifier layer is adapted to our task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cnn_dataset.py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get_cnn_transforms: allows images to be resized for densenet requirements, then converts images into a pytorch tensor , and values are normalised to make training stabilisation and pretrained densenet expectations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augmentation configuration is used only on training data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image loaded, converted to rgb numpy array, augmentation, then converted to PIL which is expected, and resized to 224 x 224 for cnn, convert to tensory, normalise, label string is converted to integer</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cnn_utils.py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train_one_epoch: sets model to training mode, which enables dropout and batch normalisation updates. pytorch gradients are cleared before a new backpropagation so that it’s more memory efficient. optimiser to update weights, and loss is accumulated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evaluate function: set model to evaluation to disable dropout and batchnorm updates, turns of gradient tracking to make it faster, and gets model predictions.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load images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compute class weights: to count number of samples per class, and smaller classes get larger weights so that minority-class mistakes are penalised more heavily</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train_cnn.py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dataset split into training, validation, and testing, and the labels are encoded</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 dataset to have augmentation with deterministic randomness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val + test dataset to have no augmentation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 loader to split data into batches, shuffle (so that training order is random - important for generalisation), and parallelise (num_workers, to improve speed)</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val + test loader splits data into batches and parallelise but no shuffling</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model is initialised, pretrained weights are used, backbone is not frozen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cross entropy loss for multi-class classification to penalise minority-class mistakes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adamw optimiser for adaptive learning rates and proper weight decay regularisation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weight decay + learning rate from hyperparameter tuning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the same classification evaluator</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check model performance on validation dataset with each epoch, and use that to select the best model</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model then runs predictions on unseen test data and computes final test performance</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cnn_hyperparameter_tuning.py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grid search on learning rate + weight decay + batch size + whether to freeze backbone or not</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batch size: smaller batch = noisier gradients, but less memory, and could have better generalisation. bigger batch = smoother gradient, but would use more memory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freeze_backbone to test whether there should be transfer learning or full fine-tuning</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evaluating the results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hyperparameter tuning results in a low validation recall of 0.5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test performance — macro-recall of 82.28% which shows that model performance is balanced across the classes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a:p>
            <a:pPr indent="0" lvl="0" marL="342900" rtl="0" algn="l">
              <a:lnSpc>
                <a:spcPct val="115000"/>
              </a:lnSpc>
              <a:spcBef>
                <a:spcPts val="360"/>
              </a:spcBef>
              <a:spcAft>
                <a:spcPts val="1200"/>
              </a:spcAft>
              <a:buNone/>
            </a:pPr>
            <a:r>
              <a:t/>
            </a:r>
            <a:endParaRPr/>
          </a:p>
        </p:txBody>
      </p:sp>
      <p:sp>
        <p:nvSpPr>
          <p:cNvPr id="183" name="Google Shape;18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45a0d8684_0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e45a0d8684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solidFill>
                  <a:schemeClr val="dk1"/>
                </a:solidFill>
              </a:rPr>
              <a:t>cnn.py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- 3 classes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pre-trained imagenet weights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feature extractor layers are not frozen, based on hyperparameter tuning results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classifier layer is adapted to our task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cnn_dataset.py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get_cnn_transforms: allows images to be resized for densenet requirements, then converts images into a pytorch tensor , and values are normalised to make training stabilisation and pretrained densenet expectations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augmentation configuration is used only on training data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image loaded, converted to rgb numpy array, augmentation, then converted to PIL which is expected, and resized to 224 x 224 for cnn, convert to tensory, normalise, label string is converted to integer</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cnn_utils.py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train_one_epoch: sets model to training mode, which enables dropout and batch normalisation updates. pytorch gradients are cleared before a new backpropagation so that it’s more memory efficient. optimiser to update weights, and loss is accumulated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evaluate function: set model to evaluation to disable dropout and batchnorm updates, turns of gradient tracking to make it faster, and gets model predictions.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load images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compute class weights: to count number of samples per class, and smaller classes get larger weights so that minority-class mistakes are penalised more heavily</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train_cnn.py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dataset split into training, validation, and testing, and the labels are encoded</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 dataset to have augmentation with deterministic randomness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val + test dataset to have no augmentation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 loader to split data into batches, shuffle (so that training order is random - important for generalisation), and parallelise (num_workers, to improve speed)</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val + test loader splits data into batches and parallelise but no shuffling</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model is initialised, pretrained weights are used, backbone is not frozen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cross entropy loss for multi-class classification to penalise minority-class mistakes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adamw optimiser for adaptive learning rates and proper weight decay regularisation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weight decay + learning rate from hyperparameter tuning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the same classification evaluator</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check model performance on validation dataset with each epoch, and use that to select the best model</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model then runs predictions on unseen test data and computes final test performance</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cnn_hyperparameter_tuning.py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grid search on learning rate + weight decay + batch size + whether to freeze backbone or not</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batch size: smaller batch = noisier gradients, but less memory, and could have better generalisation. bigger batch = smoother gradient, but would use more memory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freeze_backbone to test whether there should be transfer learning or full fine-tuning</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evaluating the results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hyperparameter tuning results in a low validation recall of 0.5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test performance — macro-recall of 82.28% which shows that model performance is balanced across the classes</a:t>
            </a:r>
            <a:endParaRPr sz="1100">
              <a:solidFill>
                <a:schemeClr val="dk1"/>
              </a:solidFill>
            </a:endParaRPr>
          </a:p>
          <a:p>
            <a:pPr indent="0" lvl="0" marL="0" rtl="0" algn="l">
              <a:lnSpc>
                <a:spcPct val="115000"/>
              </a:lnSpc>
              <a:spcBef>
                <a:spcPts val="0"/>
              </a:spcBef>
              <a:spcAft>
                <a:spcPts val="0"/>
              </a:spcAft>
              <a:buNone/>
            </a:pPr>
            <a:r>
              <a:t/>
            </a:r>
            <a:endParaRPr/>
          </a:p>
          <a:p>
            <a:pPr indent="0" lvl="0" marL="342900" rtl="0" algn="l">
              <a:lnSpc>
                <a:spcPct val="115000"/>
              </a:lnSpc>
              <a:spcBef>
                <a:spcPts val="360"/>
              </a:spcBef>
              <a:spcAft>
                <a:spcPts val="1200"/>
              </a:spcAft>
              <a:buNone/>
            </a:pPr>
            <a:r>
              <a:t/>
            </a:r>
            <a:endParaRPr/>
          </a:p>
        </p:txBody>
      </p:sp>
      <p:sp>
        <p:nvSpPr>
          <p:cNvPr id="190" name="Google Shape;190;g3e45a0d8684_0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45a0d8684_0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e45a0d8684_0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solidFill>
                  <a:schemeClr val="dk1"/>
                </a:solidFill>
              </a:rPr>
              <a:t>cnn.py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- 3 classes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pre-trained imagenet weights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feature extractor layers are not frozen, based on hyperparameter tuning results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classifier layer is adapted to our task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cnn_dataset.py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get_cnn_transforms: allows images to be resized for densenet requirements, then converts images into a pytorch tensor , and values are normalised to make training stabilisation and pretrained densenet expectations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augmentation configuration is used only on training data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image loaded, converted to rgb numpy array, augmentation, then converted to PIL which is expected, and resized to 224 x 224 for cnn, convert to tensory, normalise, label string is converted to integer</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cnn_utils.py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train_one_epoch: sets model to training mode, which enables dropout and batch normalisation updates. pytorch gradients are cleared before a new backpropagation so that it’s more memory efficient. optimiser to update weights, and loss is accumulated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evaluate function: set model to evaluation to disable dropout and batchnorm updates, turns of gradient tracking to make it faster, and gets model predictions.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load images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compute class weights: to count number of samples per class, and smaller classes get larger weights so that minority-class mistakes are penalised more heavily</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train_cnn.py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dataset split into training, validation, and testing, and the labels are encoded</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 dataset to have augmentation with deterministic randomness</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val + test dataset to have no augmentation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train loader to split data into batches, shuffle (so that training order is random - important for generalisation), and parallelise (num_workers, to improve speed)</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val + test loader splits data into batches and parallelise but no shuffling</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model is initialised, pretrained weights are used, backbone is not frozen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cross entropy loss for multi-class classification to penalise minority-class mistakes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adamw optimiser for adaptive learning rates and proper weight decay regularisation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weight decay + learning rate from hyperparameter tuning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using the same classification evaluator</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check model performance on validation dataset with each epoch, and use that to select the best model</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model then runs predictions on unseen test data and computes final test performance</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cnn_hyperparameter_tuning.py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grid search on learning rate + weight decay + batch size + whether to freeze backbone or not</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batch size: smaller batch = noisier gradients, but less memory, and could have better generalisation. bigger batch = smoother gradient, but would use more memory</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freeze_backbone to test whether there should be transfer learning or full fine-tuning</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evaluating the results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hyperparameter tuning results in a low validation recall of 0.5 </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test performance — macro-recall of 82.28% which shows that model performance is balanced across the classes</a:t>
            </a:r>
            <a:endParaRPr sz="1100">
              <a:solidFill>
                <a:schemeClr val="dk1"/>
              </a:solidFill>
            </a:endParaRPr>
          </a:p>
          <a:p>
            <a:pPr indent="0" lvl="0" marL="0" rtl="0" algn="l">
              <a:lnSpc>
                <a:spcPct val="115000"/>
              </a:lnSpc>
              <a:spcBef>
                <a:spcPts val="0"/>
              </a:spcBef>
              <a:spcAft>
                <a:spcPts val="0"/>
              </a:spcAft>
              <a:buNone/>
            </a:pPr>
            <a:r>
              <a:t/>
            </a:r>
            <a:endParaRPr/>
          </a:p>
          <a:p>
            <a:pPr indent="0" lvl="0" marL="342900" rtl="0" algn="l">
              <a:lnSpc>
                <a:spcPct val="115000"/>
              </a:lnSpc>
              <a:spcBef>
                <a:spcPts val="360"/>
              </a:spcBef>
              <a:spcAft>
                <a:spcPts val="1200"/>
              </a:spcAft>
              <a:buNone/>
            </a:pPr>
            <a:r>
              <a:t/>
            </a:r>
            <a:endParaRPr/>
          </a:p>
        </p:txBody>
      </p:sp>
      <p:sp>
        <p:nvSpPr>
          <p:cNvPr id="198" name="Google Shape;198;g3e45a0d8684_0_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how Vision Transformers differ from CNNs.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Instead of convolutions, ViTs use self-attention to model relationships between all image patches.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helps capture global chest structure and long-range dependencies.</a:t>
            </a:r>
            <a:endParaRPr/>
          </a:p>
          <a:p>
            <a:pPr indent="0" lvl="0" marL="0" rtl="0" algn="l">
              <a:spcBef>
                <a:spcPts val="0"/>
              </a:spcBef>
              <a:spcAft>
                <a:spcPts val="0"/>
              </a:spcAft>
              <a:buNone/>
            </a:pPr>
            <a:r>
              <a:t/>
            </a:r>
            <a:endParaRPr/>
          </a:p>
        </p:txBody>
      </p:sp>
      <p:sp>
        <p:nvSpPr>
          <p:cNvPr id="206" name="Google Shape;206;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5bba8efbe_5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5bba8efbe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5bba8efbe_5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e5bba8efbe_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a standard ViT alone is insufficient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dataset only contains about 5,800 images, which is relatively small for transformer-based architectures.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motivated our hybrid architecture idea.</a:t>
            </a:r>
            <a:endParaRPr/>
          </a:p>
          <a:p>
            <a:pPr indent="0" lvl="0" marL="0" rtl="0" algn="l">
              <a:spcBef>
                <a:spcPts val="0"/>
              </a:spcBef>
              <a:spcAft>
                <a:spcPts val="0"/>
              </a:spcAft>
              <a:buNone/>
            </a:pPr>
            <a:r>
              <a:t/>
            </a:r>
            <a:endParaRPr/>
          </a:p>
        </p:txBody>
      </p:sp>
      <p:sp>
        <p:nvSpPr>
          <p:cNvPr id="227" name="Google Shape;22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central contribution of the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CNN captures local pneumonia textures while the ViT captures broader structural relationships.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By combining both, we aim to improve robustness and generalization.</a:t>
            </a:r>
            <a:endParaRPr/>
          </a:p>
          <a:p>
            <a:pPr indent="0" lvl="0" marL="0" rtl="0" algn="l">
              <a:spcBef>
                <a:spcPts val="0"/>
              </a:spcBef>
              <a:spcAft>
                <a:spcPts val="0"/>
              </a:spcAft>
              <a:buNone/>
            </a:pPr>
            <a:r>
              <a:t/>
            </a:r>
            <a:endParaRPr/>
          </a:p>
        </p:txBody>
      </p:sp>
      <p:sp>
        <p:nvSpPr>
          <p:cNvPr id="234" name="Google Shape;23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fusion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concatenate CNN and ViT feature vectors before 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apply dropout specifically to the ViT branch to reduce overfitting and force the model to rely on both branches.</a:t>
            </a:r>
            <a:endParaRPr/>
          </a:p>
          <a:p>
            <a:pPr indent="0" lvl="0" marL="0" rtl="0" algn="l">
              <a:spcBef>
                <a:spcPts val="0"/>
              </a:spcBef>
              <a:spcAft>
                <a:spcPts val="0"/>
              </a:spcAft>
              <a:buNone/>
            </a:pPr>
            <a:r>
              <a:t/>
            </a:r>
            <a:endParaRPr/>
          </a:p>
        </p:txBody>
      </p:sp>
      <p:sp>
        <p:nvSpPr>
          <p:cNvPr id="242" name="Google Shape;24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5bac4619b_0_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g3e5bac4619b_0_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fusion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concatenate CNN and ViT feature vectors before 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apply dropout specifically to the ViT branch to reduce overfitting and force the model to rely on both branches.</a:t>
            </a:r>
            <a:endParaRPr/>
          </a:p>
          <a:p>
            <a:pPr indent="0" lvl="0" marL="0" rtl="0" algn="l">
              <a:spcBef>
                <a:spcPts val="0"/>
              </a:spcBef>
              <a:spcAft>
                <a:spcPts val="0"/>
              </a:spcAft>
              <a:buNone/>
            </a:pPr>
            <a:r>
              <a:t/>
            </a:r>
            <a:endParaRPr/>
          </a:p>
        </p:txBody>
      </p:sp>
      <p:sp>
        <p:nvSpPr>
          <p:cNvPr id="250" name="Google Shape;250;g3e5bac4619b_0_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59ea9646d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e59ea9646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Summarize expected behavior of each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hybrid architecture should outperform the others because it combines complementary strengths.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Focus again on improving recall and reducing false negatives.</a:t>
            </a:r>
            <a:endParaRPr/>
          </a:p>
          <a:p>
            <a:pPr indent="0" lvl="0" marL="0" rtl="0" algn="l">
              <a:spcBef>
                <a:spcPts val="0"/>
              </a:spcBef>
              <a:spcAft>
                <a:spcPts val="0"/>
              </a:spcAft>
              <a:buNone/>
            </a:pPr>
            <a:r>
              <a:t/>
            </a:r>
            <a:endParaRPr/>
          </a:p>
        </p:txBody>
      </p:sp>
      <p:sp>
        <p:nvSpPr>
          <p:cNvPr id="269" name="Google Shape;26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5bba8efbe_0_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g3e5bba8efbe_0_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Summarize expected behavior of each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hybrid architecture should outperform the others because it combines complementary strengths.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Focus again on improving recall and reducing false negatives.</a:t>
            </a:r>
            <a:endParaRPr/>
          </a:p>
          <a:p>
            <a:pPr indent="0" lvl="0" marL="0" rtl="0" algn="l">
              <a:spcBef>
                <a:spcPts val="0"/>
              </a:spcBef>
              <a:spcAft>
                <a:spcPts val="0"/>
              </a:spcAft>
              <a:buNone/>
            </a:pPr>
            <a:r>
              <a:t/>
            </a:r>
            <a:endParaRPr/>
          </a:p>
        </p:txBody>
      </p:sp>
      <p:sp>
        <p:nvSpPr>
          <p:cNvPr id="276" name="Google Shape;276;g3e5bba8efbe_0_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solidFill>
                  <a:schemeClr val="dk1"/>
                </a:solidFill>
              </a:rPr>
              <a:t>The standard ViT baseline outperformed our proposed CNN–ViT hybrid architecture</a:t>
            </a:r>
            <a:r>
              <a:rPr lang="en-US" sz="1100">
                <a:solidFill>
                  <a:schemeClr val="dk1"/>
                </a:solidFill>
              </a:rPr>
              <a:t>, suggesting that combining local and global features through simple feature fusion did not provide additional benefits on this dataset.</a:t>
            </a:r>
            <a:endParaRPr sz="1100">
              <a:solidFill>
                <a:schemeClr val="dk1"/>
              </a:solidFill>
            </a:endParaRPr>
          </a:p>
          <a:p>
            <a:pPr indent="0" lvl="0" marL="0" rtl="0" algn="l">
              <a:spcBef>
                <a:spcPts val="0"/>
              </a:spcBef>
              <a:spcAft>
                <a:spcPts val="0"/>
              </a:spcAft>
              <a:buClr>
                <a:schemeClr val="dk1"/>
              </a:buClr>
              <a:buSzPts val="1100"/>
              <a:buFont typeface="Arial"/>
              <a:buNone/>
            </a:pPr>
            <a:r>
              <a:rPr b="1" lang="en-US" sz="1100">
                <a:solidFill>
                  <a:schemeClr val="dk1"/>
                </a:solidFill>
              </a:rPr>
              <a:t>Dataset imbalance was a significant limitation</a:t>
            </a:r>
            <a:r>
              <a:rPr lang="en-US" sz="1100">
                <a:solidFill>
                  <a:schemeClr val="dk1"/>
                </a:solidFill>
              </a:rPr>
              <a:t>, with highly uneven class distributions across the train, validation, and test splits.</a:t>
            </a:r>
            <a:endParaRPr sz="1100">
              <a:solidFill>
                <a:schemeClr val="dk1"/>
              </a:solidFill>
            </a:endParaRPr>
          </a:p>
          <a:p>
            <a:pPr indent="0" lvl="0" marL="0" rtl="0" algn="l">
              <a:spcBef>
                <a:spcPts val="0"/>
              </a:spcBef>
              <a:spcAft>
                <a:spcPts val="0"/>
              </a:spcAft>
              <a:buClr>
                <a:schemeClr val="dk1"/>
              </a:buClr>
              <a:buSzPts val="1100"/>
              <a:buFont typeface="Arial"/>
              <a:buNone/>
            </a:pPr>
            <a:r>
              <a:rPr b="1" lang="en-US" sz="1100">
                <a:solidFill>
                  <a:schemeClr val="dk1"/>
                </a:solidFill>
              </a:rPr>
              <a:t>The validation set contained only 16 images and no viral pneumonia cases</a:t>
            </a:r>
            <a:r>
              <a:rPr lang="en-US" sz="1100">
                <a:solidFill>
                  <a:schemeClr val="dk1"/>
                </a:solidFill>
              </a:rPr>
              <a:t>, limiting its ability to provide a reliable estimate of model performance during hyperparameter tuning and model selection.</a:t>
            </a:r>
            <a:endParaRPr sz="1100">
              <a:solidFill>
                <a:schemeClr val="dk1"/>
              </a:solidFill>
            </a:endParaRPr>
          </a:p>
          <a:p>
            <a:pPr indent="0" lvl="0" marL="0" rtl="0" algn="l">
              <a:spcBef>
                <a:spcPts val="0"/>
              </a:spcBef>
              <a:spcAft>
                <a:spcPts val="0"/>
              </a:spcAft>
              <a:buClr>
                <a:schemeClr val="dk1"/>
              </a:buClr>
              <a:buSzPts val="1100"/>
              <a:buFont typeface="Arial"/>
              <a:buNone/>
            </a:pPr>
            <a:r>
              <a:rPr b="1" lang="en-US" sz="1100">
                <a:solidFill>
                  <a:schemeClr val="dk1"/>
                </a:solidFill>
              </a:rPr>
              <a:t>Future work</a:t>
            </a:r>
            <a:r>
              <a:rPr lang="en-US" sz="1100">
                <a:solidFill>
                  <a:schemeClr val="dk1"/>
                </a:solidFill>
              </a:rPr>
              <a:t> could explore more balanced evaluation protocols, larger datasets, and advanced attention-based fusion mechanisms to better leverage complementary CNN and ViT representations.</a:t>
            </a:r>
            <a:endParaRPr sz="1100">
              <a:solidFill>
                <a:schemeClr val="dk1"/>
              </a:solidFill>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US" sz="1200">
                <a:solidFill>
                  <a:schemeClr val="dk1"/>
                </a:solidFill>
              </a:rPr>
              <a:t>The hybrid underperformed the ViT because it diluted each branch's strength rather than combining them, the simpler fusion was the more robust of the two, and the biggest practical limitation was a validation set too small and skewed to select on — which is also the first thing we'd fix.</a:t>
            </a:r>
            <a:endParaRPr sz="1000">
              <a:solidFill>
                <a:schemeClr val="dk1"/>
              </a:solidFill>
            </a:endParaRPr>
          </a:p>
        </p:txBody>
      </p:sp>
      <p:sp>
        <p:nvSpPr>
          <p:cNvPr id="284" name="Google Shape;28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g3e45a0d8684_1_1372"/>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g3e45a0d8684_1_1372"/>
          <p:cNvGrpSpPr/>
          <p:nvPr/>
        </p:nvGrpSpPr>
        <p:grpSpPr>
          <a:xfrm>
            <a:off x="830392" y="1588427"/>
            <a:ext cx="745763" cy="61102"/>
            <a:chOff x="4580561" y="2589004"/>
            <a:chExt cx="1064464" cy="25200"/>
          </a:xfrm>
        </p:grpSpPr>
        <p:sp>
          <p:nvSpPr>
            <p:cNvPr id="12" name="Google Shape;12;g3e45a0d8684_1_137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3e45a0d8684_1_137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g3e45a0d8684_1_1372"/>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g3e45a0d8684_1_1372"/>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g3e45a0d8684_1_137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g3e45a0d8684_1_1380"/>
          <p:cNvGrpSpPr/>
          <p:nvPr/>
        </p:nvGrpSpPr>
        <p:grpSpPr>
          <a:xfrm>
            <a:off x="830392" y="1588427"/>
            <a:ext cx="745763" cy="61102"/>
            <a:chOff x="4580561" y="2589004"/>
            <a:chExt cx="1064464" cy="25200"/>
          </a:xfrm>
        </p:grpSpPr>
        <p:sp>
          <p:nvSpPr>
            <p:cNvPr id="19" name="Google Shape;19;g3e45a0d8684_1_138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3e45a0d8684_1_138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g3e45a0d8684_1_1380"/>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g3e45a0d8684_1_138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3e45a0d8684_1_138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g3e45a0d8684_1_1386"/>
          <p:cNvGrpSpPr/>
          <p:nvPr/>
        </p:nvGrpSpPr>
        <p:grpSpPr>
          <a:xfrm>
            <a:off x="830392" y="1588427"/>
            <a:ext cx="745763" cy="61102"/>
            <a:chOff x="4580561" y="2589004"/>
            <a:chExt cx="1064464" cy="25200"/>
          </a:xfrm>
        </p:grpSpPr>
        <p:sp>
          <p:nvSpPr>
            <p:cNvPr id="26" name="Google Shape;26;g3e45a0d8684_1_138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e45a0d8684_1_138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g3e45a0d8684_1_1386"/>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g3e45a0d8684_1_1386"/>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g3e45a0d8684_1_138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g3e45a0d8684_1_1394"/>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g3e45a0d8684_1_1394"/>
          <p:cNvGrpSpPr/>
          <p:nvPr/>
        </p:nvGrpSpPr>
        <p:grpSpPr>
          <a:xfrm>
            <a:off x="830392" y="1588427"/>
            <a:ext cx="745763" cy="61102"/>
            <a:chOff x="4580561" y="2589004"/>
            <a:chExt cx="1064464" cy="25200"/>
          </a:xfrm>
        </p:grpSpPr>
        <p:sp>
          <p:nvSpPr>
            <p:cNvPr id="34" name="Google Shape;34;g3e45a0d8684_1_139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e45a0d8684_1_139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3e45a0d8684_1_1394"/>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g3e45a0d8684_1_1394"/>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g3e45a0d8684_1_1394"/>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g3e45a0d8684_1_139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g3e45a0d8684_1_1403"/>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g3e45a0d8684_1_1403"/>
          <p:cNvGrpSpPr/>
          <p:nvPr/>
        </p:nvGrpSpPr>
        <p:grpSpPr>
          <a:xfrm>
            <a:off x="830392" y="1588427"/>
            <a:ext cx="745763" cy="61102"/>
            <a:chOff x="4580561" y="2589004"/>
            <a:chExt cx="1064464" cy="25200"/>
          </a:xfrm>
        </p:grpSpPr>
        <p:sp>
          <p:nvSpPr>
            <p:cNvPr id="43" name="Google Shape;43;g3e45a0d8684_1_140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e45a0d8684_1_140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g3e45a0d8684_1_1403"/>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g3e45a0d8684_1_1403"/>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g3e45a0d8684_1_1410"/>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g3e45a0d8684_1_1410"/>
          <p:cNvGrpSpPr/>
          <p:nvPr/>
        </p:nvGrpSpPr>
        <p:grpSpPr>
          <a:xfrm>
            <a:off x="830392" y="1588427"/>
            <a:ext cx="745763" cy="61102"/>
            <a:chOff x="4580561" y="2589004"/>
            <a:chExt cx="1064464" cy="25200"/>
          </a:xfrm>
        </p:grpSpPr>
        <p:sp>
          <p:nvSpPr>
            <p:cNvPr id="50" name="Google Shape;50;g3e45a0d8684_1_14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3e45a0d8684_1_14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g3e45a0d8684_1_1410"/>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g3e45a0d8684_1_1410"/>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g3e45a0d8684_1_141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g3e45a0d8684_1_1418"/>
          <p:cNvGrpSpPr/>
          <p:nvPr/>
        </p:nvGrpSpPr>
        <p:grpSpPr>
          <a:xfrm>
            <a:off x="830392" y="5558926"/>
            <a:ext cx="745763" cy="61102"/>
            <a:chOff x="4580561" y="2589004"/>
            <a:chExt cx="1064464" cy="25200"/>
          </a:xfrm>
        </p:grpSpPr>
        <p:sp>
          <p:nvSpPr>
            <p:cNvPr id="57" name="Google Shape;57;g3e45a0d8684_1_141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e45a0d8684_1_141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g3e45a0d8684_1_1418"/>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g3e45a0d8684_1_141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3e45a0d8684_1_1424"/>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g3e45a0d8684_1_1424"/>
          <p:cNvGrpSpPr/>
          <p:nvPr/>
        </p:nvGrpSpPr>
        <p:grpSpPr>
          <a:xfrm>
            <a:off x="830392" y="1588427"/>
            <a:ext cx="745763" cy="61102"/>
            <a:chOff x="4580561" y="2589004"/>
            <a:chExt cx="1064464" cy="25200"/>
          </a:xfrm>
        </p:grpSpPr>
        <p:sp>
          <p:nvSpPr>
            <p:cNvPr id="64" name="Google Shape;64;g3e45a0d8684_1_142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e45a0d8684_1_142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g3e45a0d8684_1_1424"/>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g3e45a0d8684_1_1424"/>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g3e45a0d8684_1_1424"/>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g3e45a0d8684_1_142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g3e45a0d8684_1_1433"/>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g3e45a0d8684_1_1433"/>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g3e45a0d8684_1_1436"/>
          <p:cNvGrpSpPr/>
          <p:nvPr/>
        </p:nvGrpSpPr>
        <p:grpSpPr>
          <a:xfrm>
            <a:off x="830392" y="5558926"/>
            <a:ext cx="745763" cy="61102"/>
            <a:chOff x="4580561" y="2589004"/>
            <a:chExt cx="1064464" cy="25200"/>
          </a:xfrm>
        </p:grpSpPr>
        <p:sp>
          <p:nvSpPr>
            <p:cNvPr id="75" name="Google Shape;75;g3e45a0d8684_1_143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e45a0d8684_1_143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g3e45a0d8684_1_1436"/>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g3e45a0d8684_1_1436"/>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g3e45a0d8684_1_143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g3e45a0d8684_1_1443"/>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g3e45a0d8684_1_14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g3e45a0d8684_1_144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85" name="Google Shape;85;g3e45a0d8684_1_144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g3e45a0d8684_1_144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g3e45a0d8684_1_144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g3e45a0d8684_1_136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g3e45a0d8684_1_1368"/>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g3e45a0d8684_1_1368"/>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Chest X-Ray Pneumonia Classification </a:t>
            </a:r>
            <a:endParaRPr/>
          </a:p>
        </p:txBody>
      </p:sp>
      <p:sp>
        <p:nvSpPr>
          <p:cNvPr id="94" name="Google Shape;94;p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t/>
            </a:r>
            <a:endParaRPr sz="1800"/>
          </a:p>
          <a:p>
            <a:pPr indent="0" lvl="0" marL="342900" rtl="0" algn="l">
              <a:spcBef>
                <a:spcPts val="0"/>
              </a:spcBef>
              <a:spcAft>
                <a:spcPts val="0"/>
              </a:spcAft>
              <a:buNone/>
            </a:pPr>
            <a:r>
              <a:t/>
            </a:r>
            <a:endParaRPr sz="1800"/>
          </a:p>
          <a:p>
            <a:pPr indent="0" lvl="0" marL="342900" rtl="0" algn="l">
              <a:spcBef>
                <a:spcPts val="0"/>
              </a:spcBef>
              <a:spcAft>
                <a:spcPts val="0"/>
              </a:spcAft>
              <a:buNone/>
            </a:pPr>
            <a:r>
              <a:t/>
            </a:r>
            <a:endParaRPr sz="1800"/>
          </a:p>
          <a:p>
            <a:pPr indent="0" lvl="0" marL="342900" rtl="0" algn="l">
              <a:spcBef>
                <a:spcPts val="0"/>
              </a:spcBef>
              <a:spcAft>
                <a:spcPts val="0"/>
              </a:spcAft>
              <a:buNone/>
            </a:pPr>
            <a:r>
              <a:t/>
            </a:r>
            <a:endParaRPr sz="1800"/>
          </a:p>
          <a:p>
            <a:pPr indent="0" lvl="0" marL="342900" rtl="0" algn="ctr">
              <a:spcBef>
                <a:spcPts val="0"/>
              </a:spcBef>
              <a:spcAft>
                <a:spcPts val="0"/>
              </a:spcAft>
              <a:buNone/>
            </a:pPr>
            <a:r>
              <a:rPr lang="en-US" sz="1800"/>
              <a:t>A Comparative Study of Logistic Regression, CNNs, ViTs, and Hybrid Architecture</a:t>
            </a:r>
            <a:endParaRPr/>
          </a:p>
          <a:p>
            <a:pPr indent="-228600" lvl="0" marL="342900" rtl="0" algn="l">
              <a:spcBef>
                <a:spcPts val="360"/>
              </a:spcBef>
              <a:spcAft>
                <a:spcPts val="0"/>
              </a:spcAft>
              <a:buClr>
                <a:schemeClr val="dk1"/>
              </a:buClr>
              <a:buSzPts val="1800"/>
              <a:buNone/>
            </a:pPr>
            <a:r>
              <a:t/>
            </a:r>
            <a:endParaRPr sz="1800"/>
          </a:p>
          <a:p>
            <a:pPr indent="0" lvl="0" marL="0" rtl="0" algn="l">
              <a:spcBef>
                <a:spcPts val="360"/>
              </a:spcBef>
              <a:spcAft>
                <a:spcPts val="0"/>
              </a:spcAft>
              <a:buNone/>
            </a:pPr>
            <a:r>
              <a:t/>
            </a:r>
            <a:endParaRPr sz="1800"/>
          </a:p>
          <a:p>
            <a:pPr indent="0" lvl="0" marL="342900" rtl="0" algn="l">
              <a:spcBef>
                <a:spcPts val="360"/>
              </a:spcBef>
              <a:spcAft>
                <a:spcPts val="0"/>
              </a:spcAft>
              <a:buNone/>
            </a:pPr>
            <a:r>
              <a:t/>
            </a:r>
            <a:endParaRPr sz="1800"/>
          </a:p>
          <a:p>
            <a:pPr indent="0" lvl="0" marL="342900" rtl="0" algn="l">
              <a:spcBef>
                <a:spcPts val="360"/>
              </a:spcBef>
              <a:spcAft>
                <a:spcPts val="0"/>
              </a:spcAft>
              <a:buNone/>
            </a:pPr>
            <a:r>
              <a:t/>
            </a:r>
            <a:endParaRPr sz="1800"/>
          </a:p>
          <a:p>
            <a:pPr indent="-304800" lvl="0" marL="457200" rtl="0" algn="l">
              <a:spcBef>
                <a:spcPts val="360"/>
              </a:spcBef>
              <a:spcAft>
                <a:spcPts val="0"/>
              </a:spcAft>
              <a:buSzPts val="1200"/>
              <a:buChar char="●"/>
            </a:pPr>
            <a:r>
              <a:rPr lang="en-US" sz="1200"/>
              <a:t>H. Şeyda Gündüz — Data, Metrics &amp; Logistic Regression</a:t>
            </a:r>
            <a:endParaRPr sz="1200"/>
          </a:p>
          <a:p>
            <a:pPr indent="-304800" lvl="0" marL="457200" rtl="0" algn="l">
              <a:spcBef>
                <a:spcPts val="0"/>
              </a:spcBef>
              <a:spcAft>
                <a:spcPts val="0"/>
              </a:spcAft>
              <a:buSzPts val="1200"/>
              <a:buChar char="●"/>
            </a:pPr>
            <a:r>
              <a:rPr lang="en-US" sz="1200"/>
              <a:t>Amrithavarshini Satheesh — CNN Baseline</a:t>
            </a:r>
            <a:endParaRPr sz="1200"/>
          </a:p>
          <a:p>
            <a:pPr indent="-304800" lvl="0" marL="457200" rtl="0" algn="l">
              <a:spcBef>
                <a:spcPts val="0"/>
              </a:spcBef>
              <a:spcAft>
                <a:spcPts val="0"/>
              </a:spcAft>
              <a:buSzPts val="1200"/>
              <a:buChar char="●"/>
            </a:pPr>
            <a:r>
              <a:rPr lang="en-US" sz="1200"/>
              <a:t>DivyaTej Reddy Kavalagari — Vision Transformer Baseline</a:t>
            </a:r>
            <a:endParaRPr sz="1200"/>
          </a:p>
          <a:p>
            <a:pPr indent="-304800" lvl="0" marL="457200" rtl="0" algn="l">
              <a:spcBef>
                <a:spcPts val="0"/>
              </a:spcBef>
              <a:spcAft>
                <a:spcPts val="0"/>
              </a:spcAft>
              <a:buSzPts val="1200"/>
              <a:buChar char="●"/>
            </a:pPr>
            <a:r>
              <a:rPr lang="en-US" sz="1200"/>
              <a:t>Sohith Vishnu Sai Yachamaneni— Proposed Hybrid ViT Model</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Why This Problem Matters</a:t>
            </a:r>
            <a:endParaRPr/>
          </a:p>
        </p:txBody>
      </p:sp>
      <p:sp>
        <p:nvSpPr>
          <p:cNvPr id="101" name="Google Shape;101;p2"/>
          <p:cNvSpPr txBox="1"/>
          <p:nvPr>
            <p:ph idx="1" type="body"/>
          </p:nvPr>
        </p:nvSpPr>
        <p:spPr>
          <a:xfrm>
            <a:off x="457200" y="2830300"/>
            <a:ext cx="8229600" cy="45261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15000"/>
              </a:lnSpc>
              <a:spcBef>
                <a:spcPts val="360"/>
              </a:spcBef>
              <a:spcAft>
                <a:spcPts val="0"/>
              </a:spcAft>
              <a:buSzPts val="1800"/>
              <a:buChar char="●"/>
            </a:pPr>
            <a:r>
              <a:rPr lang="en-US" sz="1800"/>
              <a:t>Pneumonia is a major respiratory disease</a:t>
            </a:r>
            <a:endParaRPr/>
          </a:p>
          <a:p>
            <a:pPr indent="-342900" lvl="0" marL="342900" marR="0" rtl="0" algn="l">
              <a:lnSpc>
                <a:spcPct val="115000"/>
              </a:lnSpc>
              <a:spcBef>
                <a:spcPts val="360"/>
              </a:spcBef>
              <a:spcAft>
                <a:spcPts val="0"/>
              </a:spcAft>
              <a:buSzPts val="1800"/>
              <a:buChar char="●"/>
            </a:pPr>
            <a:r>
              <a:rPr lang="en-US" sz="1800"/>
              <a:t>Chest X-rays are commonly used for diagnosis</a:t>
            </a:r>
            <a:endParaRPr/>
          </a:p>
          <a:p>
            <a:pPr indent="-342900" lvl="0" marL="342900" marR="0" rtl="0" algn="l">
              <a:lnSpc>
                <a:spcPct val="115000"/>
              </a:lnSpc>
              <a:spcBef>
                <a:spcPts val="360"/>
              </a:spcBef>
              <a:spcAft>
                <a:spcPts val="0"/>
              </a:spcAft>
              <a:buSzPts val="1800"/>
              <a:buChar char="●"/>
            </a:pPr>
            <a:r>
              <a:rPr lang="en-US" sz="1800"/>
              <a:t>AI can support radiologists by improving consistency and speed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Formal Problem Setting</a:t>
            </a:r>
            <a:endParaRPr/>
          </a:p>
        </p:txBody>
      </p:sp>
      <p:sp>
        <p:nvSpPr>
          <p:cNvPr id="108" name="Google Shape;108;p3"/>
          <p:cNvSpPr txBox="1"/>
          <p:nvPr>
            <p:ph idx="1" type="body"/>
          </p:nvPr>
        </p:nvSpPr>
        <p:spPr>
          <a:xfrm>
            <a:off x="457200" y="2017999"/>
            <a:ext cx="8229600" cy="410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800"/>
              <a:t>Input: Chest X-ray image xᵢ ∈ ℝ^(H×W×C)</a:t>
            </a:r>
            <a:endParaRPr/>
          </a:p>
          <a:p>
            <a:pPr indent="0" lvl="0" marL="0" rtl="0" algn="l">
              <a:spcBef>
                <a:spcPts val="360"/>
              </a:spcBef>
              <a:spcAft>
                <a:spcPts val="0"/>
              </a:spcAft>
              <a:buNone/>
            </a:pPr>
            <a:r>
              <a:rPr lang="en-US" sz="1800"/>
              <a:t>Output label yᵢ ∈ {0,1,2}</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0 = Normal (i.e. no Pneumonia)</a:t>
            </a:r>
            <a:endParaRPr/>
          </a:p>
          <a:p>
            <a:pPr indent="-342900" lvl="0" marL="342900" rtl="0" algn="l">
              <a:spcBef>
                <a:spcPts val="360"/>
              </a:spcBef>
              <a:spcAft>
                <a:spcPts val="0"/>
              </a:spcAft>
              <a:buClr>
                <a:schemeClr val="dk1"/>
              </a:buClr>
              <a:buSzPts val="1800"/>
              <a:buChar char="●"/>
            </a:pPr>
            <a:r>
              <a:rPr lang="en-US" sz="1800"/>
              <a:t>1 = Bacterial Pneumonia</a:t>
            </a:r>
            <a:endParaRPr/>
          </a:p>
          <a:p>
            <a:pPr indent="-342900" lvl="0" marL="342900" rtl="0" algn="l">
              <a:spcBef>
                <a:spcPts val="360"/>
              </a:spcBef>
              <a:spcAft>
                <a:spcPts val="0"/>
              </a:spcAft>
              <a:buClr>
                <a:schemeClr val="dk1"/>
              </a:buClr>
              <a:buSzPts val="1800"/>
              <a:buChar char="●"/>
            </a:pPr>
            <a:r>
              <a:rPr lang="en-US" sz="1800"/>
              <a:t>2 = Viral Pneumonia</a:t>
            </a:r>
            <a:endParaRPr sz="1800"/>
          </a:p>
          <a:p>
            <a:pPr indent="0" lvl="0" marL="0" rtl="0" algn="l">
              <a:spcBef>
                <a:spcPts val="360"/>
              </a:spcBef>
              <a:spcAft>
                <a:spcPts val="0"/>
              </a:spcAft>
              <a:buNone/>
            </a:pPr>
            <a:r>
              <a:t/>
            </a:r>
            <a:endParaRPr sz="1800"/>
          </a:p>
          <a:p>
            <a:pPr indent="0" lvl="0" marL="0" rtl="0" algn="l">
              <a:spcBef>
                <a:spcPts val="360"/>
              </a:spcBef>
              <a:spcAft>
                <a:spcPts val="0"/>
              </a:spcAft>
              <a:buNone/>
            </a:pPr>
            <a:r>
              <a:rPr lang="en-US" sz="1800"/>
              <a:t>Supervised three-class </a:t>
            </a:r>
            <a:r>
              <a:rPr lang="en-US" sz="1800"/>
              <a:t>image</a:t>
            </a:r>
            <a:r>
              <a:rPr lang="en-US" sz="1800"/>
              <a:t> classification problem</a:t>
            </a:r>
            <a:endParaRPr sz="1800"/>
          </a:p>
          <a:p>
            <a:pPr indent="0" lvl="0" marL="0" rtl="0" algn="l">
              <a:spcBef>
                <a:spcPts val="36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a:t>Dataset Introduction</a:t>
            </a:r>
            <a:endParaRPr/>
          </a:p>
        </p:txBody>
      </p:sp>
      <p:sp>
        <p:nvSpPr>
          <p:cNvPr id="115" name="Google Shape;115;p4"/>
          <p:cNvSpPr txBox="1"/>
          <p:nvPr>
            <p:ph idx="1" type="body"/>
          </p:nvPr>
        </p:nvSpPr>
        <p:spPr>
          <a:xfrm>
            <a:off x="457200" y="2396400"/>
            <a:ext cx="3932700" cy="20652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chemeClr val="dk1"/>
              </a:buClr>
              <a:buSzPts val="1800"/>
              <a:buChar char="●"/>
            </a:pPr>
            <a:r>
              <a:rPr lang="en-US" sz="1800"/>
              <a:t>Chest X-Ray Pneumonia Dataset*</a:t>
            </a:r>
            <a:endParaRPr/>
          </a:p>
          <a:p>
            <a:pPr indent="-342900" lvl="0" marL="342900" rtl="0" algn="l">
              <a:spcBef>
                <a:spcPts val="0"/>
              </a:spcBef>
              <a:spcAft>
                <a:spcPts val="0"/>
              </a:spcAft>
              <a:buClr>
                <a:schemeClr val="dk1"/>
              </a:buClr>
              <a:buSzPts val="1800"/>
              <a:buChar char="●"/>
            </a:pPr>
            <a:r>
              <a:rPr lang="en-US" sz="1800"/>
              <a:t>Classes:</a:t>
            </a:r>
            <a:endParaRPr sz="1800"/>
          </a:p>
          <a:p>
            <a:pPr indent="-285750" lvl="1" marL="742950" rtl="0" algn="l">
              <a:spcBef>
                <a:spcPts val="0"/>
              </a:spcBef>
              <a:spcAft>
                <a:spcPts val="0"/>
              </a:spcAft>
              <a:buClr>
                <a:schemeClr val="dk1"/>
              </a:buClr>
              <a:buSzPts val="1800"/>
              <a:buChar char="○"/>
            </a:pPr>
            <a:r>
              <a:rPr lang="en-US" sz="1800"/>
              <a:t>Normal: Clear lung fields</a:t>
            </a:r>
            <a:endParaRPr sz="1800"/>
          </a:p>
          <a:p>
            <a:pPr indent="-285750" lvl="1" marL="742950" rtl="0" algn="l">
              <a:spcBef>
                <a:spcPts val="0"/>
              </a:spcBef>
              <a:spcAft>
                <a:spcPts val="0"/>
              </a:spcAft>
              <a:buClr>
                <a:schemeClr val="dk1"/>
              </a:buClr>
              <a:buSzPts val="1800"/>
              <a:buChar char="○"/>
            </a:pPr>
            <a:r>
              <a:rPr lang="en-US" sz="1800"/>
              <a:t>Bacterial: Typically focal lung opacity</a:t>
            </a:r>
            <a:endParaRPr sz="1800"/>
          </a:p>
          <a:p>
            <a:pPr indent="-285750" lvl="1" marL="742950" rtl="0" algn="l">
              <a:spcBef>
                <a:spcPts val="0"/>
              </a:spcBef>
              <a:spcAft>
                <a:spcPts val="0"/>
              </a:spcAft>
              <a:buClr>
                <a:schemeClr val="dk1"/>
              </a:buClr>
              <a:buSzPts val="1800"/>
              <a:buChar char="○"/>
            </a:pPr>
            <a:r>
              <a:rPr lang="en-US" sz="1800"/>
              <a:t>Viral: Diffuse and widespread involvement</a:t>
            </a:r>
            <a:endParaRPr/>
          </a:p>
        </p:txBody>
      </p:sp>
      <p:sp>
        <p:nvSpPr>
          <p:cNvPr id="116" name="Google Shape;116;p4"/>
          <p:cNvSpPr txBox="1"/>
          <p:nvPr/>
        </p:nvSpPr>
        <p:spPr>
          <a:xfrm>
            <a:off x="289175" y="6266975"/>
            <a:ext cx="3647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chemeClr val="dk1"/>
                </a:solidFill>
                <a:latin typeface="Calibri"/>
                <a:ea typeface="Calibri"/>
                <a:cs typeface="Calibri"/>
                <a:sym typeface="Calibri"/>
              </a:rPr>
              <a:t>https://www.kaggle.com/datasets/paultimothymooney/chest-xray-pneumonia</a:t>
            </a:r>
            <a:endParaRPr sz="400"/>
          </a:p>
        </p:txBody>
      </p:sp>
      <p:grpSp>
        <p:nvGrpSpPr>
          <p:cNvPr id="117" name="Google Shape;117;p4"/>
          <p:cNvGrpSpPr/>
          <p:nvPr/>
        </p:nvGrpSpPr>
        <p:grpSpPr>
          <a:xfrm>
            <a:off x="4506117" y="3023595"/>
            <a:ext cx="4108430" cy="1358316"/>
            <a:chOff x="533775" y="2943324"/>
            <a:chExt cx="8021145" cy="2651924"/>
          </a:xfrm>
        </p:grpSpPr>
        <p:pic>
          <p:nvPicPr>
            <p:cNvPr id="118" name="Google Shape;118;p4" title="Screenshot 2026-05-08 at 13.10.51.png"/>
            <p:cNvPicPr preferRelativeResize="0"/>
            <p:nvPr/>
          </p:nvPicPr>
          <p:blipFill>
            <a:blip r:embed="rId3">
              <a:alphaModFix/>
            </a:blip>
            <a:stretch>
              <a:fillRect/>
            </a:stretch>
          </p:blipFill>
          <p:spPr>
            <a:xfrm>
              <a:off x="533775" y="2943325"/>
              <a:ext cx="2824752" cy="1980949"/>
            </a:xfrm>
            <a:prstGeom prst="rect">
              <a:avLst/>
            </a:prstGeom>
            <a:noFill/>
            <a:ln>
              <a:noFill/>
            </a:ln>
          </p:spPr>
        </p:pic>
        <p:sp>
          <p:nvSpPr>
            <p:cNvPr id="119" name="Google Shape;119;p4"/>
            <p:cNvSpPr txBox="1"/>
            <p:nvPr/>
          </p:nvSpPr>
          <p:spPr>
            <a:xfrm>
              <a:off x="1268875" y="4984724"/>
              <a:ext cx="1335600" cy="610500"/>
            </a:xfrm>
            <a:prstGeom prst="rect">
              <a:avLst/>
            </a:prstGeom>
            <a:noFill/>
            <a:ln>
              <a:noFill/>
            </a:ln>
          </p:spPr>
          <p:txBody>
            <a:bodyPr anchorCtr="0" anchor="t" bIns="46825" lIns="46825" spcFirstLastPara="1" rIns="46825" wrap="square" tIns="46825">
              <a:spAutoFit/>
            </a:bodyPr>
            <a:lstStyle/>
            <a:p>
              <a:pPr indent="0" lvl="0" marL="0" rtl="0" algn="l">
                <a:spcBef>
                  <a:spcPts val="184"/>
                </a:spcBef>
                <a:spcAft>
                  <a:spcPts val="0"/>
                </a:spcAft>
                <a:buNone/>
              </a:pPr>
              <a:r>
                <a:rPr lang="en-US" sz="1417">
                  <a:solidFill>
                    <a:schemeClr val="dk1"/>
                  </a:solidFill>
                  <a:latin typeface="Calibri"/>
                  <a:ea typeface="Calibri"/>
                  <a:cs typeface="Calibri"/>
                  <a:sym typeface="Calibri"/>
                </a:rPr>
                <a:t>Normal</a:t>
              </a:r>
              <a:endParaRPr sz="1417"/>
            </a:p>
          </p:txBody>
        </p:sp>
        <p:pic>
          <p:nvPicPr>
            <p:cNvPr id="120" name="Google Shape;120;p4" title="Screenshot 2026-05-08 at 13.13.55.png"/>
            <p:cNvPicPr preferRelativeResize="0"/>
            <p:nvPr/>
          </p:nvPicPr>
          <p:blipFill>
            <a:blip r:embed="rId4">
              <a:alphaModFix/>
            </a:blip>
            <a:stretch>
              <a:fillRect/>
            </a:stretch>
          </p:blipFill>
          <p:spPr>
            <a:xfrm>
              <a:off x="3688975" y="2943326"/>
              <a:ext cx="2200536" cy="1980950"/>
            </a:xfrm>
            <a:prstGeom prst="rect">
              <a:avLst/>
            </a:prstGeom>
            <a:noFill/>
            <a:ln>
              <a:noFill/>
            </a:ln>
          </p:spPr>
        </p:pic>
        <p:sp>
          <p:nvSpPr>
            <p:cNvPr id="121" name="Google Shape;121;p4"/>
            <p:cNvSpPr txBox="1"/>
            <p:nvPr/>
          </p:nvSpPr>
          <p:spPr>
            <a:xfrm>
              <a:off x="4343309" y="4984749"/>
              <a:ext cx="891900" cy="610500"/>
            </a:xfrm>
            <a:prstGeom prst="rect">
              <a:avLst/>
            </a:prstGeom>
            <a:noFill/>
            <a:ln>
              <a:noFill/>
            </a:ln>
          </p:spPr>
          <p:txBody>
            <a:bodyPr anchorCtr="0" anchor="t" bIns="46825" lIns="46825" spcFirstLastPara="1" rIns="46825" wrap="square" tIns="46825">
              <a:spAutoFit/>
            </a:bodyPr>
            <a:lstStyle/>
            <a:p>
              <a:pPr indent="0" lvl="0" marL="0" rtl="0" algn="l">
                <a:spcBef>
                  <a:spcPts val="184"/>
                </a:spcBef>
                <a:spcAft>
                  <a:spcPts val="0"/>
                </a:spcAft>
                <a:buNone/>
              </a:pPr>
              <a:r>
                <a:rPr lang="en-US" sz="1417">
                  <a:solidFill>
                    <a:schemeClr val="dk1"/>
                  </a:solidFill>
                  <a:latin typeface="Calibri"/>
                  <a:ea typeface="Calibri"/>
                  <a:cs typeface="Calibri"/>
                  <a:sym typeface="Calibri"/>
                </a:rPr>
                <a:t>Viral</a:t>
              </a:r>
              <a:endParaRPr sz="1417"/>
            </a:p>
          </p:txBody>
        </p:sp>
        <p:pic>
          <p:nvPicPr>
            <p:cNvPr id="122" name="Google Shape;122;p4" title="Screenshot 2026-05-08 at 13.15.09.png"/>
            <p:cNvPicPr preferRelativeResize="0"/>
            <p:nvPr/>
          </p:nvPicPr>
          <p:blipFill>
            <a:blip r:embed="rId5">
              <a:alphaModFix/>
            </a:blip>
            <a:stretch>
              <a:fillRect/>
            </a:stretch>
          </p:blipFill>
          <p:spPr>
            <a:xfrm>
              <a:off x="6219950" y="2943324"/>
              <a:ext cx="2334970" cy="1980950"/>
            </a:xfrm>
            <a:prstGeom prst="rect">
              <a:avLst/>
            </a:prstGeom>
            <a:noFill/>
            <a:ln>
              <a:noFill/>
            </a:ln>
          </p:spPr>
        </p:pic>
        <p:sp>
          <p:nvSpPr>
            <p:cNvPr id="123" name="Google Shape;123;p4"/>
            <p:cNvSpPr txBox="1"/>
            <p:nvPr/>
          </p:nvSpPr>
          <p:spPr>
            <a:xfrm>
              <a:off x="6604437" y="4984724"/>
              <a:ext cx="1566000" cy="610500"/>
            </a:xfrm>
            <a:prstGeom prst="rect">
              <a:avLst/>
            </a:prstGeom>
            <a:noFill/>
            <a:ln>
              <a:noFill/>
            </a:ln>
          </p:spPr>
          <p:txBody>
            <a:bodyPr anchorCtr="0" anchor="t" bIns="46825" lIns="46825" spcFirstLastPara="1" rIns="46825" wrap="square" tIns="46825">
              <a:spAutoFit/>
            </a:bodyPr>
            <a:lstStyle/>
            <a:p>
              <a:pPr indent="0" lvl="0" marL="0" rtl="0" algn="l">
                <a:spcBef>
                  <a:spcPts val="184"/>
                </a:spcBef>
                <a:spcAft>
                  <a:spcPts val="0"/>
                </a:spcAft>
                <a:buNone/>
              </a:pPr>
              <a:r>
                <a:rPr lang="en-US" sz="1417">
                  <a:solidFill>
                    <a:schemeClr val="dk1"/>
                  </a:solidFill>
                  <a:latin typeface="Calibri"/>
                  <a:ea typeface="Calibri"/>
                  <a:cs typeface="Calibri"/>
                  <a:sym typeface="Calibri"/>
                </a:rPr>
                <a:t>Bacterial</a:t>
              </a:r>
              <a:endParaRPr sz="1417"/>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e5bba8efbe_0_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Dataset</a:t>
            </a:r>
            <a:endParaRPr/>
          </a:p>
        </p:txBody>
      </p:sp>
      <p:sp>
        <p:nvSpPr>
          <p:cNvPr id="130" name="Google Shape;130;g3e5bba8efbe_0_46"/>
          <p:cNvSpPr txBox="1"/>
          <p:nvPr>
            <p:ph idx="1" type="body"/>
          </p:nvPr>
        </p:nvSpPr>
        <p:spPr>
          <a:xfrm>
            <a:off x="457200" y="1761900"/>
            <a:ext cx="3579300" cy="3334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342900" lvl="0" marL="342900" rtl="0" algn="l">
              <a:spcBef>
                <a:spcPts val="360"/>
              </a:spcBef>
              <a:spcAft>
                <a:spcPts val="0"/>
              </a:spcAft>
              <a:buClr>
                <a:schemeClr val="dk1"/>
              </a:buClr>
              <a:buSzPts val="1800"/>
              <a:buChar char="●"/>
            </a:pPr>
            <a:r>
              <a:rPr lang="en-US" sz="1800"/>
              <a:t>Approximately 5,800 chest X-ray images</a:t>
            </a:r>
            <a:endParaRPr sz="1800"/>
          </a:p>
          <a:p>
            <a:pPr indent="0" lvl="0" marL="0" rtl="0" algn="l">
              <a:spcBef>
                <a:spcPts val="1200"/>
              </a:spcBef>
              <a:spcAft>
                <a:spcPts val="0"/>
              </a:spcAft>
              <a:buNone/>
            </a:pPr>
            <a:r>
              <a:rPr lang="en-US" sz="1800"/>
              <a:t>Images contain:</a:t>
            </a:r>
            <a:endParaRPr sz="1800"/>
          </a:p>
          <a:p>
            <a:pPr indent="-298450" lvl="0" marL="457200" rtl="0" algn="l">
              <a:spcBef>
                <a:spcPts val="1200"/>
              </a:spcBef>
              <a:spcAft>
                <a:spcPts val="0"/>
              </a:spcAft>
              <a:buClr>
                <a:srgbClr val="000000"/>
              </a:buClr>
              <a:buSzPts val="1100"/>
              <a:buFont typeface="Arial"/>
              <a:buChar char="●"/>
            </a:pPr>
            <a:r>
              <a:rPr lang="en-US" sz="1800"/>
              <a:t>Different patient positioning</a:t>
            </a:r>
            <a:endParaRPr sz="1800"/>
          </a:p>
          <a:p>
            <a:pPr indent="-298450" lvl="0" marL="457200" rtl="0" algn="l">
              <a:spcBef>
                <a:spcPts val="0"/>
              </a:spcBef>
              <a:spcAft>
                <a:spcPts val="0"/>
              </a:spcAft>
              <a:buClr>
                <a:srgbClr val="000000"/>
              </a:buClr>
              <a:buSzPts val="1100"/>
              <a:buFont typeface="Arial"/>
              <a:buChar char="●"/>
            </a:pPr>
            <a:r>
              <a:rPr lang="en-US" sz="1800"/>
              <a:t>Varying image quality</a:t>
            </a:r>
            <a:endParaRPr sz="1800"/>
          </a:p>
          <a:p>
            <a:pPr indent="-298450" lvl="0" marL="457200" rtl="0" algn="l">
              <a:spcBef>
                <a:spcPts val="0"/>
              </a:spcBef>
              <a:spcAft>
                <a:spcPts val="0"/>
              </a:spcAft>
              <a:buClr>
                <a:srgbClr val="000000"/>
              </a:buClr>
              <a:buSzPts val="1100"/>
              <a:buFont typeface="Arial"/>
              <a:buChar char="●"/>
            </a:pPr>
            <a:r>
              <a:rPr lang="en-US" sz="1800"/>
              <a:t>Machine-specific artifacts</a:t>
            </a:r>
            <a:endParaRPr sz="1800"/>
          </a:p>
          <a:p>
            <a:pPr indent="-298450" lvl="0" marL="457200" rtl="0" algn="l">
              <a:spcBef>
                <a:spcPts val="0"/>
              </a:spcBef>
              <a:spcAft>
                <a:spcPts val="0"/>
              </a:spcAft>
              <a:buClr>
                <a:srgbClr val="000000"/>
              </a:buClr>
              <a:buSzPts val="1100"/>
              <a:buFont typeface="Arial"/>
              <a:buChar char="●"/>
            </a:pPr>
            <a:r>
              <a:rPr lang="en-US" sz="1800"/>
              <a:t>Different coverage regions</a:t>
            </a:r>
            <a:endParaRPr sz="1800"/>
          </a:p>
        </p:txBody>
      </p:sp>
      <p:sp>
        <p:nvSpPr>
          <p:cNvPr id="131" name="Google Shape;131;g3e5bba8efbe_0_46"/>
          <p:cNvSpPr txBox="1"/>
          <p:nvPr/>
        </p:nvSpPr>
        <p:spPr>
          <a:xfrm>
            <a:off x="289175" y="6266975"/>
            <a:ext cx="3647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chemeClr val="dk1"/>
                </a:solidFill>
                <a:latin typeface="Calibri"/>
                <a:ea typeface="Calibri"/>
                <a:cs typeface="Calibri"/>
                <a:sym typeface="Calibri"/>
              </a:rPr>
              <a:t>https://www.kaggle.com/datasets/paultimothymooney/chest-xray-pneumonia</a:t>
            </a:r>
            <a:endParaRPr sz="400"/>
          </a:p>
        </p:txBody>
      </p:sp>
      <p:grpSp>
        <p:nvGrpSpPr>
          <p:cNvPr id="132" name="Google Shape;132;g3e5bba8efbe_0_46"/>
          <p:cNvGrpSpPr/>
          <p:nvPr/>
        </p:nvGrpSpPr>
        <p:grpSpPr>
          <a:xfrm>
            <a:off x="4869825" y="1948463"/>
            <a:ext cx="3667963" cy="2961076"/>
            <a:chOff x="4861800" y="1826225"/>
            <a:chExt cx="3667963" cy="2961076"/>
          </a:xfrm>
        </p:grpSpPr>
        <p:pic>
          <p:nvPicPr>
            <p:cNvPr id="133" name="Google Shape;133;g3e5bba8efbe_0_46" title="IM-0478-0001.jpeg"/>
            <p:cNvPicPr preferRelativeResize="0"/>
            <p:nvPr/>
          </p:nvPicPr>
          <p:blipFill>
            <a:blip r:embed="rId3">
              <a:alphaModFix/>
            </a:blip>
            <a:stretch>
              <a:fillRect/>
            </a:stretch>
          </p:blipFill>
          <p:spPr>
            <a:xfrm>
              <a:off x="4861800" y="1826225"/>
              <a:ext cx="1458367" cy="1358300"/>
            </a:xfrm>
            <a:prstGeom prst="rect">
              <a:avLst/>
            </a:prstGeom>
            <a:noFill/>
            <a:ln>
              <a:noFill/>
            </a:ln>
          </p:spPr>
        </p:pic>
        <p:pic>
          <p:nvPicPr>
            <p:cNvPr id="134" name="Google Shape;134;g3e5bba8efbe_0_46" title="IM-0626-0001-0001.jpeg"/>
            <p:cNvPicPr preferRelativeResize="0"/>
            <p:nvPr/>
          </p:nvPicPr>
          <p:blipFill>
            <a:blip r:embed="rId4">
              <a:alphaModFix/>
            </a:blip>
            <a:stretch>
              <a:fillRect/>
            </a:stretch>
          </p:blipFill>
          <p:spPr>
            <a:xfrm>
              <a:off x="6507300" y="1826225"/>
              <a:ext cx="2022463" cy="1358299"/>
            </a:xfrm>
            <a:prstGeom prst="rect">
              <a:avLst/>
            </a:prstGeom>
            <a:noFill/>
            <a:ln>
              <a:noFill/>
            </a:ln>
          </p:spPr>
        </p:pic>
        <p:pic>
          <p:nvPicPr>
            <p:cNvPr id="135" name="Google Shape;135;g3e5bba8efbe_0_46" title="person7_bacteria_25.jpeg"/>
            <p:cNvPicPr preferRelativeResize="0"/>
            <p:nvPr/>
          </p:nvPicPr>
          <p:blipFill>
            <a:blip r:embed="rId5">
              <a:alphaModFix/>
            </a:blip>
            <a:stretch>
              <a:fillRect/>
            </a:stretch>
          </p:blipFill>
          <p:spPr>
            <a:xfrm>
              <a:off x="5654575" y="3429000"/>
              <a:ext cx="2152950" cy="1358301"/>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ddb8241e93_0_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Dataset </a:t>
            </a:r>
            <a:r>
              <a:rPr lang="en-US"/>
              <a:t>Distribution</a:t>
            </a:r>
            <a:endParaRPr/>
          </a:p>
        </p:txBody>
      </p:sp>
      <p:sp>
        <p:nvSpPr>
          <p:cNvPr id="142" name="Google Shape;142;g3ddb8241e93_0_2"/>
          <p:cNvSpPr txBox="1"/>
          <p:nvPr>
            <p:ph idx="1" type="body"/>
          </p:nvPr>
        </p:nvSpPr>
        <p:spPr>
          <a:xfrm>
            <a:off x="457200" y="2194650"/>
            <a:ext cx="3369600" cy="24687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None/>
            </a:pPr>
            <a:r>
              <a:t/>
            </a:r>
            <a:endParaRPr sz="1800"/>
          </a:p>
          <a:p>
            <a:pPr indent="-342900" lvl="0" marL="457200" rtl="0" algn="l">
              <a:spcBef>
                <a:spcPts val="1200"/>
              </a:spcBef>
              <a:spcAft>
                <a:spcPts val="0"/>
              </a:spcAft>
              <a:buSzPts val="1800"/>
              <a:buChar char="●"/>
            </a:pPr>
            <a:r>
              <a:rPr lang="en-US" sz="1800"/>
              <a:t>Significant class imbalance exists</a:t>
            </a:r>
            <a:endParaRPr sz="1800"/>
          </a:p>
          <a:p>
            <a:pPr indent="-342900" lvl="0" marL="457200" rtl="0" algn="l">
              <a:spcBef>
                <a:spcPts val="0"/>
              </a:spcBef>
              <a:spcAft>
                <a:spcPts val="0"/>
              </a:spcAft>
              <a:buSzPts val="1800"/>
              <a:buChar char="●"/>
            </a:pPr>
            <a:r>
              <a:rPr lang="en-US" sz="1800"/>
              <a:t>Validation set is extremely small</a:t>
            </a:r>
            <a:endParaRPr sz="1800"/>
          </a:p>
          <a:p>
            <a:pPr indent="-342900" lvl="0" marL="457200" rtl="0" algn="l">
              <a:spcBef>
                <a:spcPts val="0"/>
              </a:spcBef>
              <a:spcAft>
                <a:spcPts val="0"/>
              </a:spcAft>
              <a:buSzPts val="1800"/>
              <a:buChar char="●"/>
            </a:pPr>
            <a:r>
              <a:rPr lang="en-US" sz="1800"/>
              <a:t>Bacterial pneumonia is the dominant class</a:t>
            </a:r>
            <a:endParaRPr sz="1800"/>
          </a:p>
        </p:txBody>
      </p:sp>
      <p:graphicFrame>
        <p:nvGraphicFramePr>
          <p:cNvPr id="143" name="Google Shape;143;g3ddb8241e93_0_2"/>
          <p:cNvGraphicFramePr/>
          <p:nvPr/>
        </p:nvGraphicFramePr>
        <p:xfrm>
          <a:off x="4244788" y="2898038"/>
          <a:ext cx="3000000" cy="3000000"/>
        </p:xfrm>
        <a:graphic>
          <a:graphicData uri="http://schemas.openxmlformats.org/drawingml/2006/table">
            <a:tbl>
              <a:tblPr>
                <a:noFill/>
                <a:tableStyleId>{186CA02C-15E5-4BA8-88A9-FE3F898A0D4D}</a:tableStyleId>
              </a:tblPr>
              <a:tblGrid>
                <a:gridCol w="888400"/>
                <a:gridCol w="888400"/>
                <a:gridCol w="888400"/>
                <a:gridCol w="888400"/>
                <a:gridCol w="888400"/>
              </a:tblGrid>
              <a:tr h="408075">
                <a:tc>
                  <a:txBody>
                    <a:bodyPr/>
                    <a:lstStyle/>
                    <a:p>
                      <a:pPr indent="0" lvl="0" marL="0" rtl="0" algn="l">
                        <a:spcBef>
                          <a:spcPts val="0"/>
                        </a:spcBef>
                        <a:spcAft>
                          <a:spcPts val="0"/>
                        </a:spcAft>
                        <a:buNone/>
                      </a:pPr>
                      <a:r>
                        <a:rPr lang="en-US"/>
                        <a:t>Split</a:t>
                      </a:r>
                      <a:endParaRPr/>
                    </a:p>
                  </a:txBody>
                  <a:tcPr marT="91425" marB="91425" marR="91425" marL="91425"/>
                </a:tc>
                <a:tc>
                  <a:txBody>
                    <a:bodyPr/>
                    <a:lstStyle/>
                    <a:p>
                      <a:pPr indent="0" lvl="0" marL="0" rtl="0" algn="l">
                        <a:spcBef>
                          <a:spcPts val="0"/>
                        </a:spcBef>
                        <a:spcAft>
                          <a:spcPts val="0"/>
                        </a:spcAft>
                        <a:buNone/>
                      </a:pPr>
                      <a:r>
                        <a:rPr lang="en-US"/>
                        <a:t>Total</a:t>
                      </a:r>
                      <a:endParaRPr/>
                    </a:p>
                  </a:txBody>
                  <a:tcPr marT="91425" marB="91425" marR="91425" marL="91425"/>
                </a:tc>
                <a:tc>
                  <a:txBody>
                    <a:bodyPr/>
                    <a:lstStyle/>
                    <a:p>
                      <a:pPr indent="0" lvl="0" marL="0" rtl="0" algn="l">
                        <a:spcBef>
                          <a:spcPts val="0"/>
                        </a:spcBef>
                        <a:spcAft>
                          <a:spcPts val="0"/>
                        </a:spcAft>
                        <a:buNone/>
                      </a:pPr>
                      <a:r>
                        <a:rPr lang="en-US"/>
                        <a:t>Bacterial</a:t>
                      </a:r>
                      <a:endParaRPr/>
                    </a:p>
                  </a:txBody>
                  <a:tcPr marT="91425" marB="91425" marR="91425" marL="91425"/>
                </a:tc>
                <a:tc>
                  <a:txBody>
                    <a:bodyPr/>
                    <a:lstStyle/>
                    <a:p>
                      <a:pPr indent="0" lvl="0" marL="0" rtl="0" algn="l">
                        <a:spcBef>
                          <a:spcPts val="0"/>
                        </a:spcBef>
                        <a:spcAft>
                          <a:spcPts val="0"/>
                        </a:spcAft>
                        <a:buNone/>
                      </a:pPr>
                      <a:r>
                        <a:rPr lang="en-US"/>
                        <a:t>Viral</a:t>
                      </a:r>
                      <a:endParaRPr/>
                    </a:p>
                  </a:txBody>
                  <a:tcPr marT="91425" marB="91425" marR="91425" marL="91425"/>
                </a:tc>
                <a:tc>
                  <a:txBody>
                    <a:bodyPr/>
                    <a:lstStyle/>
                    <a:p>
                      <a:pPr indent="0" lvl="0" marL="0" rtl="0" algn="l">
                        <a:spcBef>
                          <a:spcPts val="0"/>
                        </a:spcBef>
                        <a:spcAft>
                          <a:spcPts val="0"/>
                        </a:spcAft>
                        <a:buNone/>
                      </a:pPr>
                      <a:r>
                        <a:rPr lang="en-US"/>
                        <a:t>Normal</a:t>
                      </a:r>
                      <a:endParaRPr/>
                    </a:p>
                  </a:txBody>
                  <a:tcPr marT="91425" marB="91425" marR="91425" marL="91425"/>
                </a:tc>
              </a:tr>
              <a:tr h="122875">
                <a:tc>
                  <a:txBody>
                    <a:bodyPr/>
                    <a:lstStyle/>
                    <a:p>
                      <a:pPr indent="0" lvl="0" marL="0" rtl="0" algn="l">
                        <a:spcBef>
                          <a:spcPts val="0"/>
                        </a:spcBef>
                        <a:spcAft>
                          <a:spcPts val="0"/>
                        </a:spcAft>
                        <a:buNone/>
                      </a:pPr>
                      <a:r>
                        <a:rPr lang="en-US"/>
                        <a:t>train</a:t>
                      </a:r>
                      <a:endParaRPr/>
                    </a:p>
                  </a:txBody>
                  <a:tcPr marT="91425" marB="91425" marR="91425" marL="91425"/>
                </a:tc>
                <a:tc>
                  <a:txBody>
                    <a:bodyPr/>
                    <a:lstStyle/>
                    <a:p>
                      <a:pPr indent="0" lvl="0" marL="0" rtl="0" algn="l">
                        <a:spcBef>
                          <a:spcPts val="0"/>
                        </a:spcBef>
                        <a:spcAft>
                          <a:spcPts val="0"/>
                        </a:spcAft>
                        <a:buNone/>
                      </a:pPr>
                      <a:r>
                        <a:rPr lang="en-US"/>
                        <a:t>5216</a:t>
                      </a:r>
                      <a:endParaRPr/>
                    </a:p>
                  </a:txBody>
                  <a:tcPr marT="91425" marB="91425" marR="91425" marL="91425"/>
                </a:tc>
                <a:tc>
                  <a:txBody>
                    <a:bodyPr/>
                    <a:lstStyle/>
                    <a:p>
                      <a:pPr indent="0" lvl="0" marL="0" rtl="0" algn="l">
                        <a:spcBef>
                          <a:spcPts val="0"/>
                        </a:spcBef>
                        <a:spcAft>
                          <a:spcPts val="0"/>
                        </a:spcAft>
                        <a:buNone/>
                      </a:pPr>
                      <a:r>
                        <a:rPr lang="en-US"/>
                        <a:t>2530</a:t>
                      </a:r>
                      <a:endParaRPr/>
                    </a:p>
                  </a:txBody>
                  <a:tcPr marT="91425" marB="91425" marR="91425" marL="91425"/>
                </a:tc>
                <a:tc>
                  <a:txBody>
                    <a:bodyPr/>
                    <a:lstStyle/>
                    <a:p>
                      <a:pPr indent="0" lvl="0" marL="0" rtl="0" algn="l">
                        <a:spcBef>
                          <a:spcPts val="0"/>
                        </a:spcBef>
                        <a:spcAft>
                          <a:spcPts val="0"/>
                        </a:spcAft>
                        <a:buNone/>
                      </a:pPr>
                      <a:r>
                        <a:rPr lang="en-US"/>
                        <a:t>1345</a:t>
                      </a:r>
                      <a:endParaRPr/>
                    </a:p>
                  </a:txBody>
                  <a:tcPr marT="91425" marB="91425" marR="91425" marL="91425"/>
                </a:tc>
                <a:tc>
                  <a:txBody>
                    <a:bodyPr/>
                    <a:lstStyle/>
                    <a:p>
                      <a:pPr indent="0" lvl="0" marL="0" rtl="0" algn="l">
                        <a:spcBef>
                          <a:spcPts val="0"/>
                        </a:spcBef>
                        <a:spcAft>
                          <a:spcPts val="0"/>
                        </a:spcAft>
                        <a:buNone/>
                      </a:pPr>
                      <a:r>
                        <a:rPr lang="en-US"/>
                        <a:t>1341</a:t>
                      </a:r>
                      <a:endParaRPr/>
                    </a:p>
                  </a:txBody>
                  <a:tcPr marT="91425" marB="91425" marR="91425" marL="91425"/>
                </a:tc>
              </a:tr>
              <a:tr h="375175">
                <a:tc>
                  <a:txBody>
                    <a:bodyPr/>
                    <a:lstStyle/>
                    <a:p>
                      <a:pPr indent="0" lvl="0" marL="0" rtl="0" algn="l">
                        <a:spcBef>
                          <a:spcPts val="0"/>
                        </a:spcBef>
                        <a:spcAft>
                          <a:spcPts val="0"/>
                        </a:spcAft>
                        <a:buNone/>
                      </a:pPr>
                      <a:r>
                        <a:rPr lang="en-US"/>
                        <a:t>val</a:t>
                      </a:r>
                      <a:endParaRPr/>
                    </a:p>
                  </a:txBody>
                  <a:tcPr marT="91425" marB="91425" marR="91425" marL="91425"/>
                </a:tc>
                <a:tc>
                  <a:txBody>
                    <a:bodyPr/>
                    <a:lstStyle/>
                    <a:p>
                      <a:pPr indent="0" lvl="0" marL="0" rtl="0" algn="l">
                        <a:spcBef>
                          <a:spcPts val="0"/>
                        </a:spcBef>
                        <a:spcAft>
                          <a:spcPts val="0"/>
                        </a:spcAft>
                        <a:buNone/>
                      </a:pPr>
                      <a:r>
                        <a:rPr lang="en-US"/>
                        <a:t>16</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c>
                  <a:txBody>
                    <a:bodyPr/>
                    <a:lstStyle/>
                    <a:p>
                      <a:pPr indent="0" lvl="0" marL="0" rtl="0" algn="l">
                        <a:spcBef>
                          <a:spcPts val="0"/>
                        </a:spcBef>
                        <a:spcAft>
                          <a:spcPts val="0"/>
                        </a:spcAft>
                        <a:buNone/>
                      </a:pPr>
                      <a:r>
                        <a:rPr lang="en-US"/>
                        <a:t>-</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r>
              <a:tr h="375175">
                <a:tc>
                  <a:txBody>
                    <a:bodyPr/>
                    <a:lstStyle/>
                    <a:p>
                      <a:pPr indent="0" lvl="0" marL="0" rtl="0" algn="l">
                        <a:spcBef>
                          <a:spcPts val="0"/>
                        </a:spcBef>
                        <a:spcAft>
                          <a:spcPts val="0"/>
                        </a:spcAft>
                        <a:buNone/>
                      </a:pPr>
                      <a:r>
                        <a:rPr lang="en-US"/>
                        <a:t>test</a:t>
                      </a:r>
                      <a:endParaRPr/>
                    </a:p>
                  </a:txBody>
                  <a:tcPr marT="91425" marB="91425" marR="91425" marL="91425"/>
                </a:tc>
                <a:tc>
                  <a:txBody>
                    <a:bodyPr/>
                    <a:lstStyle/>
                    <a:p>
                      <a:pPr indent="0" lvl="0" marL="0" rtl="0" algn="l">
                        <a:spcBef>
                          <a:spcPts val="0"/>
                        </a:spcBef>
                        <a:spcAft>
                          <a:spcPts val="0"/>
                        </a:spcAft>
                        <a:buNone/>
                      </a:pPr>
                      <a:r>
                        <a:rPr lang="en-US"/>
                        <a:t>624</a:t>
                      </a:r>
                      <a:endParaRPr/>
                    </a:p>
                  </a:txBody>
                  <a:tcPr marT="91425" marB="91425" marR="91425" marL="91425"/>
                </a:tc>
                <a:tc>
                  <a:txBody>
                    <a:bodyPr/>
                    <a:lstStyle/>
                    <a:p>
                      <a:pPr indent="0" lvl="0" marL="0" rtl="0" algn="l">
                        <a:spcBef>
                          <a:spcPts val="0"/>
                        </a:spcBef>
                        <a:spcAft>
                          <a:spcPts val="0"/>
                        </a:spcAft>
                        <a:buNone/>
                      </a:pPr>
                      <a:r>
                        <a:rPr lang="en-US"/>
                        <a:t>242</a:t>
                      </a:r>
                      <a:endParaRPr/>
                    </a:p>
                  </a:txBody>
                  <a:tcPr marT="91425" marB="91425" marR="91425" marL="91425"/>
                </a:tc>
                <a:tc>
                  <a:txBody>
                    <a:bodyPr/>
                    <a:lstStyle/>
                    <a:p>
                      <a:pPr indent="0" lvl="0" marL="0" rtl="0" algn="l">
                        <a:spcBef>
                          <a:spcPts val="0"/>
                        </a:spcBef>
                        <a:spcAft>
                          <a:spcPts val="0"/>
                        </a:spcAft>
                        <a:buNone/>
                      </a:pPr>
                      <a:r>
                        <a:rPr lang="en-US"/>
                        <a:t>148</a:t>
                      </a:r>
                      <a:endParaRPr/>
                    </a:p>
                  </a:txBody>
                  <a:tcPr marT="91425" marB="91425" marR="91425" marL="91425"/>
                </a:tc>
                <a:tc>
                  <a:txBody>
                    <a:bodyPr/>
                    <a:lstStyle/>
                    <a:p>
                      <a:pPr indent="0" lvl="0" marL="0" rtl="0" algn="l">
                        <a:spcBef>
                          <a:spcPts val="0"/>
                        </a:spcBef>
                        <a:spcAft>
                          <a:spcPts val="0"/>
                        </a:spcAft>
                        <a:buNone/>
                      </a:pPr>
                      <a:r>
                        <a:rPr lang="en-US"/>
                        <a:t>234</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df8903fd6d_0_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Dataset Analysis</a:t>
            </a:r>
            <a:endParaRPr/>
          </a:p>
        </p:txBody>
      </p:sp>
      <p:sp>
        <p:nvSpPr>
          <p:cNvPr id="150" name="Google Shape;150;g3df8903fd6d_0_11"/>
          <p:cNvSpPr txBox="1"/>
          <p:nvPr>
            <p:ph idx="1" type="body"/>
          </p:nvPr>
        </p:nvSpPr>
        <p:spPr>
          <a:xfrm>
            <a:off x="457200" y="1843725"/>
            <a:ext cx="7998300" cy="40134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None/>
            </a:pPr>
            <a:r>
              <a:t/>
            </a:r>
            <a:endParaRPr sz="1800"/>
          </a:p>
          <a:p>
            <a:pPr indent="-342900" lvl="0" marL="457200" rtl="0" algn="l">
              <a:spcBef>
                <a:spcPts val="1200"/>
              </a:spcBef>
              <a:spcAft>
                <a:spcPts val="0"/>
              </a:spcAft>
              <a:buSzPts val="1800"/>
              <a:buChar char="●"/>
            </a:pPr>
            <a:r>
              <a:rPr lang="en-US" sz="1800"/>
              <a:t>All images are converted to a consistent 3-channel format during preprocessing</a:t>
            </a:r>
            <a:endParaRPr sz="1800"/>
          </a:p>
          <a:p>
            <a:pPr indent="-342900" lvl="0" marL="457200" rtl="0" algn="l">
              <a:spcBef>
                <a:spcPts val="0"/>
              </a:spcBef>
              <a:spcAft>
                <a:spcPts val="0"/>
              </a:spcAft>
              <a:buSzPts val="1800"/>
              <a:buChar char="●"/>
            </a:pPr>
            <a:r>
              <a:rPr lang="en-US" sz="1800"/>
              <a:t>Data is pre-</a:t>
            </a:r>
            <a:r>
              <a:rPr lang="en-US" sz="1800"/>
              <a:t>cleaned up</a:t>
            </a:r>
            <a:r>
              <a:rPr lang="en-US" sz="1800"/>
              <a:t>. However pixel intensity statistics are analyzed for outliers using:</a:t>
            </a:r>
            <a:endParaRPr sz="1800"/>
          </a:p>
          <a:p>
            <a:pPr indent="-298450" lvl="0" marL="914400" rtl="0" algn="l">
              <a:spcBef>
                <a:spcPts val="0"/>
              </a:spcBef>
              <a:spcAft>
                <a:spcPts val="0"/>
              </a:spcAft>
              <a:buClr>
                <a:srgbClr val="000000"/>
              </a:buClr>
              <a:buSzPts val="1100"/>
              <a:buFont typeface="Arial"/>
              <a:buChar char="●"/>
            </a:pPr>
            <a:r>
              <a:rPr lang="en-US" sz="1800"/>
              <a:t>Min / max intensity</a:t>
            </a:r>
            <a:endParaRPr sz="1800"/>
          </a:p>
          <a:p>
            <a:pPr indent="-298450" lvl="0" marL="914400" rtl="0" algn="l">
              <a:spcBef>
                <a:spcPts val="0"/>
              </a:spcBef>
              <a:spcAft>
                <a:spcPts val="0"/>
              </a:spcAft>
              <a:buClr>
                <a:srgbClr val="000000"/>
              </a:buClr>
              <a:buSzPts val="1100"/>
              <a:buFont typeface="Arial"/>
              <a:buChar char="●"/>
            </a:pPr>
            <a:r>
              <a:rPr lang="en-US" sz="1800"/>
              <a:t>Mean brightness</a:t>
            </a:r>
            <a:endParaRPr sz="1800"/>
          </a:p>
          <a:p>
            <a:pPr indent="-298450" lvl="0" marL="914400" rtl="0" algn="l">
              <a:spcBef>
                <a:spcPts val="0"/>
              </a:spcBef>
              <a:spcAft>
                <a:spcPts val="0"/>
              </a:spcAft>
              <a:buClr>
                <a:srgbClr val="000000"/>
              </a:buClr>
              <a:buSzPts val="1100"/>
              <a:buFont typeface="Arial"/>
              <a:buChar char="●"/>
            </a:pPr>
            <a:r>
              <a:rPr lang="en-US" sz="1800"/>
              <a:t>Contrast</a:t>
            </a:r>
            <a:endParaRPr sz="1800"/>
          </a:p>
          <a:p>
            <a:pPr indent="-342900" lvl="0" marL="457200" rtl="0" algn="l">
              <a:spcBef>
                <a:spcPts val="0"/>
              </a:spcBef>
              <a:spcAft>
                <a:spcPts val="0"/>
              </a:spcAft>
              <a:buClr>
                <a:schemeClr val="dk1"/>
              </a:buClr>
              <a:buSzPts val="1800"/>
              <a:buFont typeface="Lato"/>
              <a:buChar char="●"/>
            </a:pPr>
            <a:r>
              <a:rPr lang="en-US" sz="1800"/>
              <a:t>Observed intensity differences are likely caused by scanner or acquisition variability</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ddb8241e93_0_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a:t>Preprocessing &amp; Augmentation</a:t>
            </a:r>
            <a:endParaRPr/>
          </a:p>
        </p:txBody>
      </p:sp>
      <p:sp>
        <p:nvSpPr>
          <p:cNvPr id="157" name="Google Shape;157;g3ddb8241e93_0_9"/>
          <p:cNvSpPr txBox="1"/>
          <p:nvPr>
            <p:ph idx="1" type="body"/>
          </p:nvPr>
        </p:nvSpPr>
        <p:spPr>
          <a:xfrm>
            <a:off x="457200" y="1942950"/>
            <a:ext cx="6007500" cy="40134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None/>
            </a:pPr>
            <a:r>
              <a:t/>
            </a:r>
            <a:endParaRPr sz="1800"/>
          </a:p>
          <a:p>
            <a:pPr indent="-342900" lvl="0" marL="457200" rtl="0" algn="l">
              <a:spcBef>
                <a:spcPts val="1200"/>
              </a:spcBef>
              <a:spcAft>
                <a:spcPts val="0"/>
              </a:spcAft>
              <a:buSzPts val="1800"/>
              <a:buChar char="●"/>
            </a:pPr>
            <a:r>
              <a:rPr lang="en-US" sz="1800"/>
              <a:t>All images are downscaled to 224x224</a:t>
            </a:r>
            <a:endParaRPr sz="1800"/>
          </a:p>
          <a:p>
            <a:pPr indent="-342900" lvl="0" marL="457200" rtl="0" algn="l">
              <a:spcBef>
                <a:spcPts val="0"/>
              </a:spcBef>
              <a:spcAft>
                <a:spcPts val="0"/>
              </a:spcAft>
              <a:buSzPts val="1800"/>
              <a:buChar char="●"/>
            </a:pPr>
            <a:r>
              <a:rPr lang="en-US" sz="1800"/>
              <a:t>Augmentation during training</a:t>
            </a:r>
            <a:endParaRPr sz="1800"/>
          </a:p>
          <a:p>
            <a:pPr indent="-298450" lvl="0" marL="914400" rtl="0" algn="l">
              <a:spcBef>
                <a:spcPts val="0"/>
              </a:spcBef>
              <a:spcAft>
                <a:spcPts val="0"/>
              </a:spcAft>
              <a:buClr>
                <a:srgbClr val="000000"/>
              </a:buClr>
              <a:buSzPts val="1100"/>
              <a:buFont typeface="Arial"/>
              <a:buChar char="●"/>
            </a:pPr>
            <a:r>
              <a:rPr lang="en-US" sz="1800"/>
              <a:t>Random rotation up to ±10°</a:t>
            </a:r>
            <a:endParaRPr sz="1800"/>
          </a:p>
          <a:p>
            <a:pPr indent="-298450" lvl="0" marL="914400" rtl="0" algn="l">
              <a:spcBef>
                <a:spcPts val="0"/>
              </a:spcBef>
              <a:spcAft>
                <a:spcPts val="0"/>
              </a:spcAft>
              <a:buClr>
                <a:srgbClr val="000000"/>
              </a:buClr>
              <a:buSzPts val="1100"/>
              <a:buFont typeface="Arial"/>
              <a:buChar char="●"/>
            </a:pPr>
            <a:r>
              <a:rPr lang="en-US" sz="1800"/>
              <a:t>Translation up to 3 pixels</a:t>
            </a:r>
            <a:endParaRPr sz="1800"/>
          </a:p>
          <a:p>
            <a:pPr indent="-298450" lvl="0" marL="914400" marR="0" rtl="0" algn="l">
              <a:lnSpc>
                <a:spcPct val="115000"/>
              </a:lnSpc>
              <a:spcBef>
                <a:spcPts val="0"/>
              </a:spcBef>
              <a:spcAft>
                <a:spcPts val="0"/>
              </a:spcAft>
              <a:buClr>
                <a:srgbClr val="000000"/>
              </a:buClr>
              <a:buSzPts val="1100"/>
              <a:buFont typeface="Arial"/>
              <a:buChar char="●"/>
            </a:pPr>
            <a:r>
              <a:rPr lang="en-US" sz="1800"/>
              <a:t>Gaussian noise with standard deviation 0.02</a:t>
            </a:r>
            <a:endParaRPr sz="1800"/>
          </a:p>
          <a:p>
            <a:pPr indent="-298450" lvl="0" marL="914400" marR="0" rtl="0" algn="l">
              <a:lnSpc>
                <a:spcPct val="115000"/>
              </a:lnSpc>
              <a:spcBef>
                <a:spcPts val="0"/>
              </a:spcBef>
              <a:spcAft>
                <a:spcPts val="0"/>
              </a:spcAft>
              <a:buClr>
                <a:srgbClr val="000000"/>
              </a:buClr>
              <a:buSzPts val="1100"/>
              <a:buFont typeface="Arial"/>
              <a:buChar char="●"/>
            </a:pPr>
            <a:r>
              <a:rPr lang="en-US" sz="1800"/>
              <a:t>Brightness adjustment up to ±0.10</a:t>
            </a:r>
            <a:endParaRPr sz="1800"/>
          </a:p>
          <a:p>
            <a:pPr indent="-298450" lvl="0" marL="914400" marR="0" rtl="0" algn="l">
              <a:lnSpc>
                <a:spcPct val="115000"/>
              </a:lnSpc>
              <a:spcBef>
                <a:spcPts val="0"/>
              </a:spcBef>
              <a:spcAft>
                <a:spcPts val="0"/>
              </a:spcAft>
              <a:buClr>
                <a:srgbClr val="000000"/>
              </a:buClr>
              <a:buSzPts val="1100"/>
              <a:buFont typeface="Arial"/>
              <a:buChar char="●"/>
            </a:pPr>
            <a:r>
              <a:rPr lang="en-US" sz="1800"/>
              <a:t>Augmentation probability: 0.5</a:t>
            </a:r>
            <a:endParaRPr sz="1800"/>
          </a:p>
          <a:p>
            <a:pPr indent="0" lvl="0" marL="0" rtl="0" algn="l">
              <a:spcBef>
                <a:spcPts val="1200"/>
              </a:spcBef>
              <a:spcAft>
                <a:spcPts val="120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Evaluation Metrics</a:t>
            </a:r>
            <a:endParaRPr/>
          </a:p>
        </p:txBody>
      </p:sp>
      <p:sp>
        <p:nvSpPr>
          <p:cNvPr id="164" name="Google Shape;164;p5"/>
          <p:cNvSpPr txBox="1"/>
          <p:nvPr>
            <p:ph idx="1" type="body"/>
          </p:nvPr>
        </p:nvSpPr>
        <p:spPr>
          <a:xfrm>
            <a:off x="457200" y="2331750"/>
            <a:ext cx="8229600" cy="21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360"/>
              </a:spcBef>
              <a:spcAft>
                <a:spcPts val="0"/>
              </a:spcAft>
              <a:buClr>
                <a:schemeClr val="dk1"/>
              </a:buClr>
              <a:buSzPts val="1800"/>
              <a:buChar char="●"/>
            </a:pPr>
            <a:r>
              <a:rPr lang="en-US" sz="1800"/>
              <a:t>Macro Recall is chosen as:</a:t>
            </a:r>
            <a:endParaRPr sz="1800"/>
          </a:p>
          <a:p>
            <a:pPr indent="-285750" lvl="1" marL="742950" rtl="0" algn="l">
              <a:spcBef>
                <a:spcPts val="1200"/>
              </a:spcBef>
              <a:spcAft>
                <a:spcPts val="0"/>
              </a:spcAft>
              <a:buClr>
                <a:schemeClr val="dk1"/>
              </a:buClr>
              <a:buSzPts val="1800"/>
              <a:buChar char="○"/>
            </a:pPr>
            <a:r>
              <a:rPr lang="en-US" sz="1800"/>
              <a:t>Robust to class imbalance</a:t>
            </a:r>
            <a:endParaRPr sz="1800"/>
          </a:p>
          <a:p>
            <a:pPr indent="-285750" lvl="1" marL="742950" rtl="0" algn="l">
              <a:spcBef>
                <a:spcPts val="1200"/>
              </a:spcBef>
              <a:spcAft>
                <a:spcPts val="0"/>
              </a:spcAft>
              <a:buClr>
                <a:schemeClr val="dk1"/>
              </a:buClr>
              <a:buSzPts val="1800"/>
              <a:buChar char="○"/>
            </a:pPr>
            <a:r>
              <a:rPr lang="en-US" sz="1800"/>
              <a:t>Gives equal importance to all classes</a:t>
            </a:r>
            <a:endParaRPr sz="1800"/>
          </a:p>
          <a:p>
            <a:pPr indent="-285750" lvl="1" marL="742950" rtl="0" algn="l">
              <a:spcBef>
                <a:spcPts val="1200"/>
              </a:spcBef>
              <a:spcAft>
                <a:spcPts val="1200"/>
              </a:spcAft>
              <a:buClr>
                <a:schemeClr val="dk1"/>
              </a:buClr>
              <a:buSzPts val="1800"/>
              <a:buChar char="○"/>
            </a:pPr>
            <a:r>
              <a:rPr lang="en-US" sz="1800"/>
              <a:t>Measures sensitivity across classes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Baseline 1 — Logistic Regression</a:t>
            </a:r>
            <a:endParaRPr/>
          </a:p>
        </p:txBody>
      </p:sp>
      <p:sp>
        <p:nvSpPr>
          <p:cNvPr id="171" name="Google Shape;171;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360"/>
              </a:spcBef>
              <a:spcAft>
                <a:spcPts val="0"/>
              </a:spcAft>
              <a:buNone/>
            </a:pPr>
            <a:r>
              <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None/>
            </a:pPr>
            <a:r>
              <a:rPr lang="en-US" sz="1800"/>
              <a:t>Logistic Regression as an ML baseline:</a:t>
            </a:r>
            <a:endParaRPr sz="1800"/>
          </a:p>
          <a:p>
            <a:pPr indent="-342900" lvl="0" marL="342900" rtl="0" algn="l">
              <a:spcBef>
                <a:spcPts val="360"/>
              </a:spcBef>
              <a:spcAft>
                <a:spcPts val="0"/>
              </a:spcAft>
              <a:buSzPts val="1800"/>
              <a:buChar char="●"/>
            </a:pPr>
            <a:r>
              <a:rPr lang="en-US" sz="1800"/>
              <a:t>Flatten each image into a one-dimensional feature vector</a:t>
            </a:r>
            <a:endParaRPr sz="1800"/>
          </a:p>
          <a:p>
            <a:pPr indent="-342900" lvl="0" marL="342900" rtl="0" algn="l">
              <a:spcBef>
                <a:spcPts val="360"/>
              </a:spcBef>
              <a:spcAft>
                <a:spcPts val="0"/>
              </a:spcAft>
              <a:buSzPts val="1800"/>
              <a:buChar char="●"/>
            </a:pPr>
            <a:r>
              <a:rPr lang="en-US" sz="1800"/>
              <a:t>Z-score standardization across training set</a:t>
            </a:r>
            <a:endParaRPr sz="1800"/>
          </a:p>
          <a:p>
            <a:pPr indent="-342900" lvl="0" marL="342900" rtl="0" algn="l">
              <a:spcBef>
                <a:spcPts val="360"/>
              </a:spcBef>
              <a:spcAft>
                <a:spcPts val="0"/>
              </a:spcAft>
              <a:buSzPts val="1800"/>
              <a:buChar char="●"/>
            </a:pPr>
            <a:r>
              <a:rPr lang="en-US" sz="1800"/>
              <a:t>PCA for dimensionality reduction</a:t>
            </a:r>
            <a:endParaRPr sz="1800"/>
          </a:p>
          <a:p>
            <a:pPr indent="-342900" lvl="0" marL="342900" rtl="0" algn="l">
              <a:spcBef>
                <a:spcPts val="360"/>
              </a:spcBef>
              <a:spcAft>
                <a:spcPts val="0"/>
              </a:spcAft>
              <a:buSzPts val="1800"/>
              <a:buChar char="●"/>
            </a:pPr>
            <a:r>
              <a:rPr lang="en-US" sz="1800"/>
              <a:t>Class-balanced weights to address dataset imbalance</a:t>
            </a:r>
            <a:endParaRPr sz="1800"/>
          </a:p>
          <a:p>
            <a:pPr indent="0" lvl="0" marL="0" rtl="0" algn="l">
              <a:spcBef>
                <a:spcPts val="36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e5bba8efbe_0_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Baseline 1 — Logistic Regression</a:t>
            </a:r>
            <a:endParaRPr/>
          </a:p>
        </p:txBody>
      </p:sp>
      <p:sp>
        <p:nvSpPr>
          <p:cNvPr id="178" name="Google Shape;178;g3e5bba8efbe_0_5"/>
          <p:cNvSpPr txBox="1"/>
          <p:nvPr>
            <p:ph idx="1" type="body"/>
          </p:nvPr>
        </p:nvSpPr>
        <p:spPr>
          <a:xfrm>
            <a:off x="457200" y="2626200"/>
            <a:ext cx="3626700" cy="1605600"/>
          </a:xfrm>
          <a:prstGeom prst="rect">
            <a:avLst/>
          </a:prstGeom>
          <a:noFill/>
          <a:ln>
            <a:noFill/>
          </a:ln>
        </p:spPr>
        <p:txBody>
          <a:bodyPr anchorCtr="0" anchor="t" bIns="45700" lIns="91425" spcFirstLastPara="1" rIns="91425" wrap="square" tIns="45700">
            <a:normAutofit fontScale="92500" lnSpcReduction="20000"/>
          </a:bodyPr>
          <a:lstStyle/>
          <a:p>
            <a:pPr indent="-334328" lvl="0" marL="342900" rtl="0" algn="l">
              <a:spcBef>
                <a:spcPts val="360"/>
              </a:spcBef>
              <a:spcAft>
                <a:spcPts val="0"/>
              </a:spcAft>
              <a:buClr>
                <a:schemeClr val="dk1"/>
              </a:buClr>
              <a:buSzPct val="100000"/>
              <a:buChar char="●"/>
            </a:pPr>
            <a:r>
              <a:rPr lang="en-US" sz="1800"/>
              <a:t>Best PCA: 0.80 </a:t>
            </a:r>
            <a:endParaRPr sz="1800"/>
          </a:p>
          <a:p>
            <a:pPr indent="-334328" lvl="0" marL="342900" rtl="0" algn="l">
              <a:spcBef>
                <a:spcPts val="1200"/>
              </a:spcBef>
              <a:spcAft>
                <a:spcPts val="0"/>
              </a:spcAft>
              <a:buSzPct val="100000"/>
              <a:buChar char="●"/>
            </a:pPr>
            <a:r>
              <a:rPr lang="en-US" sz="1800"/>
              <a:t>Best validation Macro Recall: 0.417</a:t>
            </a:r>
            <a:endParaRPr sz="1800"/>
          </a:p>
          <a:p>
            <a:pPr indent="-334328" lvl="0" marL="342900" rtl="0" algn="l">
              <a:spcBef>
                <a:spcPts val="1200"/>
              </a:spcBef>
              <a:spcAft>
                <a:spcPts val="1200"/>
              </a:spcAft>
              <a:buClr>
                <a:schemeClr val="dk1"/>
              </a:buClr>
              <a:buSzPct val="100000"/>
              <a:buChar char="●"/>
            </a:pPr>
            <a:r>
              <a:rPr lang="en-US" sz="1800"/>
              <a:t>Regularization strength had minimal impact on performance</a:t>
            </a:r>
            <a:endParaRPr sz="1800"/>
          </a:p>
        </p:txBody>
      </p:sp>
      <p:pic>
        <p:nvPicPr>
          <p:cNvPr id="179" name="Google Shape;179;g3e5bba8efbe_0_5" title="Figure_1.png"/>
          <p:cNvPicPr preferRelativeResize="0"/>
          <p:nvPr/>
        </p:nvPicPr>
        <p:blipFill>
          <a:blip r:embed="rId3">
            <a:alphaModFix/>
          </a:blip>
          <a:stretch>
            <a:fillRect/>
          </a:stretch>
        </p:blipFill>
        <p:spPr>
          <a:xfrm>
            <a:off x="4299975" y="1862275"/>
            <a:ext cx="4386825" cy="313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Baseline 2 — CNN Model</a:t>
            </a:r>
            <a:endParaRPr/>
          </a:p>
        </p:txBody>
      </p:sp>
      <p:sp>
        <p:nvSpPr>
          <p:cNvPr id="186" name="Google Shape;186;p7"/>
          <p:cNvSpPr txBox="1"/>
          <p:nvPr>
            <p:ph idx="1" type="body"/>
          </p:nvPr>
        </p:nvSpPr>
        <p:spPr>
          <a:xfrm>
            <a:off x="457200" y="2720995"/>
            <a:ext cx="8229600" cy="1416000"/>
          </a:xfrm>
          <a:prstGeom prst="rect">
            <a:avLst/>
          </a:prstGeom>
          <a:noFill/>
          <a:ln>
            <a:noFill/>
          </a:ln>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sz="1800"/>
              <a:t>DenseNet-121 architecture </a:t>
            </a:r>
            <a:endParaRPr sz="1800"/>
          </a:p>
          <a:p>
            <a:pPr indent="-342900" lvl="0" marL="457200" rtl="0" algn="l">
              <a:spcBef>
                <a:spcPts val="0"/>
              </a:spcBef>
              <a:spcAft>
                <a:spcPts val="0"/>
              </a:spcAft>
              <a:buSzPts val="1800"/>
              <a:buChar char="●"/>
            </a:pPr>
            <a:r>
              <a:rPr lang="en-US" sz="1800"/>
              <a:t>Through convolutions, the model is able to process local image regions</a:t>
            </a:r>
            <a:endParaRPr sz="1800"/>
          </a:p>
          <a:p>
            <a:pPr indent="-342900" lvl="0" marL="457200" rtl="0" algn="l">
              <a:spcBef>
                <a:spcPts val="0"/>
              </a:spcBef>
              <a:spcAft>
                <a:spcPts val="0"/>
              </a:spcAft>
              <a:buSzPts val="1800"/>
              <a:buChar char="●"/>
            </a:pPr>
            <a:r>
              <a:rPr lang="en-US" sz="1800"/>
              <a:t>In medical imaging, pneumonia appears as localised texture patterns and opacities, and so CNN would be a good choice </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e45a0d8684_0_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Baseline 2 — CNN Model</a:t>
            </a:r>
            <a:endParaRPr/>
          </a:p>
        </p:txBody>
      </p:sp>
      <p:sp>
        <p:nvSpPr>
          <p:cNvPr id="193" name="Google Shape;193;g3e45a0d8684_0_2"/>
          <p:cNvSpPr txBox="1"/>
          <p:nvPr>
            <p:ph idx="1" type="body"/>
          </p:nvPr>
        </p:nvSpPr>
        <p:spPr>
          <a:xfrm>
            <a:off x="457200" y="1165950"/>
            <a:ext cx="8229600" cy="4526100"/>
          </a:xfrm>
          <a:prstGeom prst="rect">
            <a:avLst/>
          </a:prstGeom>
          <a:noFill/>
          <a:ln>
            <a:noFill/>
          </a:ln>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sz="1800"/>
              <a:t>Through hyperparameter tuning, we set </a:t>
            </a:r>
            <a:endParaRPr sz="1800"/>
          </a:p>
          <a:p>
            <a:pPr indent="-342900" lvl="1" marL="914400" rtl="0" algn="l">
              <a:spcBef>
                <a:spcPts val="0"/>
              </a:spcBef>
              <a:spcAft>
                <a:spcPts val="0"/>
              </a:spcAft>
              <a:buSzPts val="1800"/>
              <a:buChar char="○"/>
            </a:pPr>
            <a:r>
              <a:rPr lang="en-US" sz="1800"/>
              <a:t> Learning rate = 0.001</a:t>
            </a:r>
            <a:endParaRPr sz="1800"/>
          </a:p>
          <a:p>
            <a:pPr indent="-342900" lvl="1" marL="914400" rtl="0" algn="l">
              <a:spcBef>
                <a:spcPts val="0"/>
              </a:spcBef>
              <a:spcAft>
                <a:spcPts val="0"/>
              </a:spcAft>
              <a:buSzPts val="1800"/>
              <a:buChar char="○"/>
            </a:pPr>
            <a:r>
              <a:rPr lang="en-US" sz="1800"/>
              <a:t>Weight Decay = 0.0001</a:t>
            </a:r>
            <a:endParaRPr sz="1800"/>
          </a:p>
          <a:p>
            <a:pPr indent="-342900" lvl="1" marL="914400" rtl="0" algn="l">
              <a:spcBef>
                <a:spcPts val="0"/>
              </a:spcBef>
              <a:spcAft>
                <a:spcPts val="0"/>
              </a:spcAft>
              <a:buSzPts val="1800"/>
              <a:buChar char="○"/>
            </a:pPr>
            <a:r>
              <a:rPr lang="en-US" sz="1800"/>
              <a:t>Batch Size = 16</a:t>
            </a:r>
            <a:endParaRPr sz="1800"/>
          </a:p>
          <a:p>
            <a:pPr indent="-342900" lvl="1" marL="914400" rtl="0" algn="l">
              <a:spcBef>
                <a:spcPts val="0"/>
              </a:spcBef>
              <a:spcAft>
                <a:spcPts val="0"/>
              </a:spcAft>
              <a:buSzPts val="1800"/>
              <a:buChar char="○"/>
            </a:pPr>
            <a:r>
              <a:rPr lang="en-US" sz="1800"/>
              <a:t>Backbone is not frozen, so the entire network is fine-tuned</a:t>
            </a:r>
            <a:endParaRPr sz="1800"/>
          </a:p>
          <a:p>
            <a:pPr indent="0" lvl="0" marL="457200" rtl="0" algn="l">
              <a:spcBef>
                <a:spcPts val="1200"/>
              </a:spcBef>
              <a:spcAft>
                <a:spcPts val="1200"/>
              </a:spcAft>
              <a:buNone/>
            </a:pPr>
            <a:r>
              <a:t/>
            </a:r>
            <a:endParaRPr sz="1800"/>
          </a:p>
        </p:txBody>
      </p:sp>
      <p:pic>
        <p:nvPicPr>
          <p:cNvPr id="194" name="Google Shape;194;g3e45a0d8684_0_2"/>
          <p:cNvPicPr preferRelativeResize="0"/>
          <p:nvPr/>
        </p:nvPicPr>
        <p:blipFill>
          <a:blip r:embed="rId3">
            <a:alphaModFix/>
          </a:blip>
          <a:stretch>
            <a:fillRect/>
          </a:stretch>
        </p:blipFill>
        <p:spPr>
          <a:xfrm>
            <a:off x="1913112" y="2817200"/>
            <a:ext cx="5317776" cy="4040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e45a0d8684_0_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Baseline 2 — CNN Model</a:t>
            </a:r>
            <a:endParaRPr/>
          </a:p>
        </p:txBody>
      </p:sp>
      <p:sp>
        <p:nvSpPr>
          <p:cNvPr id="201" name="Google Shape;201;g3e45a0d8684_0_9"/>
          <p:cNvSpPr txBox="1"/>
          <p:nvPr>
            <p:ph idx="1" type="body"/>
          </p:nvPr>
        </p:nvSpPr>
        <p:spPr>
          <a:xfrm>
            <a:off x="457200" y="1165950"/>
            <a:ext cx="8229600" cy="4526100"/>
          </a:xfrm>
          <a:prstGeom prst="rect">
            <a:avLst/>
          </a:prstGeom>
          <a:noFill/>
          <a:ln>
            <a:noFill/>
          </a:ln>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sz="1800"/>
              <a:t>Model is trained on augmented data</a:t>
            </a:r>
            <a:endParaRPr sz="1800"/>
          </a:p>
          <a:p>
            <a:pPr indent="-342900" lvl="0" marL="457200" rtl="0" algn="l">
              <a:spcBef>
                <a:spcPts val="0"/>
              </a:spcBef>
              <a:spcAft>
                <a:spcPts val="0"/>
              </a:spcAft>
              <a:buSzPts val="1800"/>
              <a:buChar char="●"/>
            </a:pPr>
            <a:r>
              <a:rPr lang="en-US" sz="1800"/>
              <a:t>We use Cross Entropy Loss as a loss function so that minority-class mistakes are penalised more</a:t>
            </a:r>
            <a:endParaRPr sz="1800"/>
          </a:p>
          <a:p>
            <a:pPr indent="0" lvl="0" marL="457200" rtl="0" algn="l">
              <a:spcBef>
                <a:spcPts val="1200"/>
              </a:spcBef>
              <a:spcAft>
                <a:spcPts val="1200"/>
              </a:spcAft>
              <a:buNone/>
            </a:pPr>
            <a:r>
              <a:t/>
            </a:r>
            <a:endParaRPr sz="1800"/>
          </a:p>
        </p:txBody>
      </p:sp>
      <p:pic>
        <p:nvPicPr>
          <p:cNvPr id="202" name="Google Shape;202;g3e45a0d8684_0_9"/>
          <p:cNvPicPr preferRelativeResize="0"/>
          <p:nvPr/>
        </p:nvPicPr>
        <p:blipFill>
          <a:blip r:embed="rId3">
            <a:alphaModFix/>
          </a:blip>
          <a:stretch>
            <a:fillRect/>
          </a:stretch>
        </p:blipFill>
        <p:spPr>
          <a:xfrm>
            <a:off x="1708525" y="2151075"/>
            <a:ext cx="4914833" cy="4706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Baseline 3 — Vision Transformer (ViT)</a:t>
            </a:r>
            <a:endParaRPr/>
          </a:p>
        </p:txBody>
      </p:sp>
      <p:sp>
        <p:nvSpPr>
          <p:cNvPr id="209" name="Google Shape;209;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ViT processes images as sequences of patches</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Pipeline:</a:t>
            </a:r>
            <a:endParaRPr/>
          </a:p>
          <a:p>
            <a:pPr indent="0" lvl="0" marL="457200" rtl="0" algn="l">
              <a:spcBef>
                <a:spcPts val="360"/>
              </a:spcBef>
              <a:spcAft>
                <a:spcPts val="0"/>
              </a:spcAft>
              <a:buNone/>
            </a:pPr>
            <a:r>
              <a:rPr lang="en-US" sz="1800"/>
              <a:t>• Patch extraction</a:t>
            </a:r>
            <a:endParaRPr/>
          </a:p>
          <a:p>
            <a:pPr indent="0" lvl="0" marL="457200" rtl="0" algn="l">
              <a:spcBef>
                <a:spcPts val="360"/>
              </a:spcBef>
              <a:spcAft>
                <a:spcPts val="0"/>
              </a:spcAft>
              <a:buNone/>
            </a:pPr>
            <a:r>
              <a:rPr lang="en-US" sz="1800"/>
              <a:t>• Patch embeddings</a:t>
            </a:r>
            <a:endParaRPr/>
          </a:p>
          <a:p>
            <a:pPr indent="0" lvl="0" marL="457200" rtl="0" algn="l">
              <a:spcBef>
                <a:spcPts val="360"/>
              </a:spcBef>
              <a:spcAft>
                <a:spcPts val="0"/>
              </a:spcAft>
              <a:buNone/>
            </a:pPr>
            <a:r>
              <a:rPr lang="en-US" sz="1800"/>
              <a:t>• Transformer encoder</a:t>
            </a:r>
            <a:endParaRPr/>
          </a:p>
          <a:p>
            <a:pPr indent="0" lvl="0" marL="457200" rtl="0" algn="l">
              <a:spcBef>
                <a:spcPts val="360"/>
              </a:spcBef>
              <a:spcAft>
                <a:spcPts val="0"/>
              </a:spcAft>
              <a:buNone/>
            </a:pPr>
            <a:r>
              <a:rPr lang="en-US" sz="1800"/>
              <a:t>• Classification using CLS token</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1200"/>
              </a:spcAft>
              <a:buClr>
                <a:schemeClr val="dk1"/>
              </a:buClr>
              <a:buSzPts val="1800"/>
              <a:buChar char="●"/>
            </a:pPr>
            <a:r>
              <a:rPr lang="en-US" sz="1800"/>
              <a:t>Strength: Global context modeling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e5bba8efbe_5_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a:t>ViT Hyperparameter Tuning</a:t>
            </a:r>
            <a:endParaRPr/>
          </a:p>
          <a:p>
            <a:pPr indent="0" lvl="0" marL="0" rtl="0" algn="ctr">
              <a:spcBef>
                <a:spcPts val="0"/>
              </a:spcBef>
              <a:spcAft>
                <a:spcPts val="0"/>
              </a:spcAft>
              <a:buNone/>
            </a:pPr>
            <a:r>
              <a:t/>
            </a:r>
            <a:endParaRPr/>
          </a:p>
        </p:txBody>
      </p:sp>
      <p:sp>
        <p:nvSpPr>
          <p:cNvPr id="215" name="Google Shape;215;g3e5bba8efbe_5_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sz="1800"/>
              <a:t>Through hyperparameter tuning, we set </a:t>
            </a:r>
            <a:endParaRPr sz="1800"/>
          </a:p>
          <a:p>
            <a:pPr indent="-342900" lvl="1" marL="914400" rtl="0" algn="l">
              <a:spcBef>
                <a:spcPts val="0"/>
              </a:spcBef>
              <a:spcAft>
                <a:spcPts val="0"/>
              </a:spcAft>
              <a:buSzPts val="1800"/>
              <a:buChar char="○"/>
            </a:pPr>
            <a:r>
              <a:rPr lang="en-US" sz="1800"/>
              <a:t> Learning rate = 1e-4</a:t>
            </a:r>
            <a:endParaRPr sz="1800"/>
          </a:p>
          <a:p>
            <a:pPr indent="-342900" lvl="1" marL="914400" rtl="0" algn="l">
              <a:spcBef>
                <a:spcPts val="0"/>
              </a:spcBef>
              <a:spcAft>
                <a:spcPts val="0"/>
              </a:spcAft>
              <a:buSzPts val="1800"/>
              <a:buChar char="○"/>
            </a:pPr>
            <a:r>
              <a:rPr lang="en-US" sz="1800"/>
              <a:t>Weight Decay = 0.01</a:t>
            </a:r>
            <a:endParaRPr sz="1800"/>
          </a:p>
          <a:p>
            <a:pPr indent="-342900" lvl="1" marL="914400" rtl="0" algn="l">
              <a:spcBef>
                <a:spcPts val="0"/>
              </a:spcBef>
              <a:spcAft>
                <a:spcPts val="0"/>
              </a:spcAft>
              <a:buSzPts val="1800"/>
              <a:buChar char="○"/>
            </a:pPr>
            <a:r>
              <a:rPr lang="en-US" sz="1800"/>
              <a:t>Dropout = 0.1</a:t>
            </a:r>
            <a:endParaRPr sz="1800"/>
          </a:p>
          <a:p>
            <a:pPr indent="-342900" lvl="1" marL="914400" rtl="0" algn="l">
              <a:spcBef>
                <a:spcPts val="0"/>
              </a:spcBef>
              <a:spcAft>
                <a:spcPts val="0"/>
              </a:spcAft>
              <a:buSzPts val="1800"/>
              <a:buChar char="○"/>
            </a:pPr>
            <a:r>
              <a:rPr lang="en-US" sz="1800"/>
              <a:t>Backbone is not frozen - so the entire network is fine-tuned</a:t>
            </a:r>
            <a:endParaRPr/>
          </a:p>
        </p:txBody>
      </p:sp>
      <p:pic>
        <p:nvPicPr>
          <p:cNvPr id="216" name="Google Shape;216;g3e5bba8efbe_5_7" title="hyperparameter_heatmap.png"/>
          <p:cNvPicPr preferRelativeResize="0"/>
          <p:nvPr/>
        </p:nvPicPr>
        <p:blipFill>
          <a:blip r:embed="rId3">
            <a:alphaModFix/>
          </a:blip>
          <a:stretch>
            <a:fillRect/>
          </a:stretch>
        </p:blipFill>
        <p:spPr>
          <a:xfrm>
            <a:off x="862250" y="3559825"/>
            <a:ext cx="6734375" cy="2716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e5bba8efbe_5_1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ViT Results</a:t>
            </a:r>
            <a:endParaRPr/>
          </a:p>
        </p:txBody>
      </p:sp>
      <p:sp>
        <p:nvSpPr>
          <p:cNvPr id="222" name="Google Shape;222;g3e5bba8efbe_5_1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sz="1800"/>
              <a:t>Model is trained on augmented data</a:t>
            </a:r>
            <a:endParaRPr sz="1800"/>
          </a:p>
          <a:p>
            <a:pPr indent="-342900" lvl="0" marL="457200" rtl="0" algn="l">
              <a:spcBef>
                <a:spcPts val="0"/>
              </a:spcBef>
              <a:spcAft>
                <a:spcPts val="0"/>
              </a:spcAft>
              <a:buSzPts val="1800"/>
              <a:buChar char="●"/>
            </a:pPr>
            <a:r>
              <a:rPr lang="en-US" sz="1800"/>
              <a:t>Weighted Cross-Entropy Loss with label smoothing to handle class imbalance</a:t>
            </a:r>
            <a:endParaRPr/>
          </a:p>
        </p:txBody>
      </p:sp>
      <p:pic>
        <p:nvPicPr>
          <p:cNvPr id="223" name="Google Shape;223;g3e5bba8efbe_5_15" title="best_config_confusion_matrix.png"/>
          <p:cNvPicPr preferRelativeResize="0"/>
          <p:nvPr/>
        </p:nvPicPr>
        <p:blipFill>
          <a:blip r:embed="rId3">
            <a:alphaModFix/>
          </a:blip>
          <a:stretch>
            <a:fillRect/>
          </a:stretch>
        </p:blipFill>
        <p:spPr>
          <a:xfrm>
            <a:off x="1952900" y="2560250"/>
            <a:ext cx="4473975" cy="3944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Challenges with Standard ViTs</a:t>
            </a:r>
            <a:endParaRPr/>
          </a:p>
        </p:txBody>
      </p:sp>
      <p:sp>
        <p:nvSpPr>
          <p:cNvPr id="230" name="Google Shape;230;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Problems on small datasets:</a:t>
            </a:r>
            <a:endParaRPr/>
          </a:p>
          <a:p>
            <a:pPr indent="-285750" lvl="1" marL="742950" rtl="0" algn="l">
              <a:spcBef>
                <a:spcPts val="0"/>
              </a:spcBef>
              <a:spcAft>
                <a:spcPts val="0"/>
              </a:spcAft>
              <a:buClr>
                <a:schemeClr val="dk1"/>
              </a:buClr>
              <a:buSzPts val="1800"/>
              <a:buChar char="○"/>
            </a:pPr>
            <a:r>
              <a:rPr lang="en-US" sz="1800"/>
              <a:t>Weak spatial inductive bias</a:t>
            </a:r>
            <a:endParaRPr/>
          </a:p>
          <a:p>
            <a:pPr indent="-285750" lvl="1" marL="742950" rtl="0" algn="l">
              <a:spcBef>
                <a:spcPts val="0"/>
              </a:spcBef>
              <a:spcAft>
                <a:spcPts val="0"/>
              </a:spcAft>
              <a:buClr>
                <a:schemeClr val="dk1"/>
              </a:buClr>
              <a:buSzPts val="1800"/>
              <a:buChar char="○"/>
            </a:pPr>
            <a:r>
              <a:rPr lang="en-US" sz="1800"/>
              <a:t>Data hungry</a:t>
            </a:r>
            <a:endParaRPr/>
          </a:p>
          <a:p>
            <a:pPr indent="-285750" lvl="1" marL="742950" rtl="0" algn="l">
              <a:spcBef>
                <a:spcPts val="0"/>
              </a:spcBef>
              <a:spcAft>
                <a:spcPts val="0"/>
              </a:spcAft>
              <a:buClr>
                <a:schemeClr val="dk1"/>
              </a:buClr>
              <a:buSzPts val="1800"/>
              <a:buChar char="○"/>
            </a:pPr>
            <a:r>
              <a:rPr lang="en-US" sz="1800"/>
              <a:t>Overfitting risk</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Observation:</a:t>
            </a:r>
            <a:endParaRPr/>
          </a:p>
          <a:p>
            <a:pPr indent="-285750" lvl="1" marL="742950" rtl="0" algn="l">
              <a:spcBef>
                <a:spcPts val="360"/>
              </a:spcBef>
              <a:spcAft>
                <a:spcPts val="0"/>
              </a:spcAft>
              <a:buClr>
                <a:schemeClr val="dk1"/>
              </a:buClr>
              <a:buSzPts val="1800"/>
              <a:buChar char="○"/>
            </a:pPr>
            <a:r>
              <a:rPr lang="en-US" sz="1800"/>
              <a:t>CNNs = better local features</a:t>
            </a:r>
            <a:endParaRPr/>
          </a:p>
          <a:p>
            <a:pPr indent="-285750" lvl="1" marL="742950" rtl="0" algn="l">
              <a:spcBef>
                <a:spcPts val="360"/>
              </a:spcBef>
              <a:spcAft>
                <a:spcPts val="1200"/>
              </a:spcAft>
              <a:buClr>
                <a:schemeClr val="dk1"/>
              </a:buClr>
              <a:buSzPts val="1800"/>
              <a:buChar char="○"/>
            </a:pPr>
            <a:r>
              <a:rPr lang="en-US" sz="1800"/>
              <a:t>ViTs = better global structure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Proposed Hybrid Architecture</a:t>
            </a:r>
            <a:endParaRPr/>
          </a:p>
        </p:txBody>
      </p:sp>
      <p:sp>
        <p:nvSpPr>
          <p:cNvPr id="237" name="Google Shape;237;p10"/>
          <p:cNvSpPr txBox="1"/>
          <p:nvPr/>
        </p:nvSpPr>
        <p:spPr>
          <a:xfrm>
            <a:off x="457200" y="1246925"/>
            <a:ext cx="8229600" cy="2604300"/>
          </a:xfrm>
          <a:prstGeom prst="rect">
            <a:avLst/>
          </a:prstGeom>
          <a:noFill/>
          <a:ln>
            <a:noFill/>
          </a:ln>
        </p:spPr>
        <p:txBody>
          <a:bodyPr anchorCtr="0" anchor="t" bIns="91425" lIns="91425" spcFirstLastPara="1" rIns="91425" wrap="square" tIns="91425">
            <a:spAutoFit/>
          </a:bodyPr>
          <a:lstStyle/>
          <a:p>
            <a:pPr indent="-254000" lvl="0" marL="254000" rtl="0" algn="l">
              <a:lnSpc>
                <a:spcPct val="115000"/>
              </a:lnSpc>
              <a:spcBef>
                <a:spcPts val="0"/>
              </a:spcBef>
              <a:spcAft>
                <a:spcPts val="0"/>
              </a:spcAft>
              <a:buNone/>
            </a:pPr>
            <a:r>
              <a:rPr lang="en-US" sz="1800">
                <a:solidFill>
                  <a:schemeClr val="accent1"/>
                </a:solidFill>
                <a:latin typeface="Lato"/>
                <a:ea typeface="Lato"/>
                <a:cs typeface="Lato"/>
                <a:sym typeface="Lato"/>
              </a:rPr>
              <a:t>Two parallel branches, each kept at full token resolution</a:t>
            </a:r>
            <a:endParaRPr sz="1800">
              <a:solidFill>
                <a:schemeClr val="accent1"/>
              </a:solidFill>
              <a:latin typeface="Lato"/>
              <a:ea typeface="Lato"/>
              <a:cs typeface="Lato"/>
              <a:sym typeface="Lato"/>
            </a:endParaRPr>
          </a:p>
          <a:p>
            <a:pPr indent="-254000" lvl="0" marL="254000" rtl="0" algn="l">
              <a:lnSpc>
                <a:spcPct val="115000"/>
              </a:lnSpc>
              <a:spcBef>
                <a:spcPts val="500"/>
              </a:spcBef>
              <a:spcAft>
                <a:spcPts val="0"/>
              </a:spcAft>
              <a:buNone/>
            </a:pPr>
            <a:r>
              <a:rPr b="1" lang="en-US" sz="1800">
                <a:solidFill>
                  <a:schemeClr val="accent1"/>
                </a:solidFill>
                <a:latin typeface="Lato"/>
                <a:ea typeface="Lato"/>
                <a:cs typeface="Lato"/>
                <a:sym typeface="Lato"/>
              </a:rPr>
              <a:t>CNN — DenseNet-121</a:t>
            </a:r>
            <a:r>
              <a:rPr lang="en-US" sz="1800">
                <a:solidFill>
                  <a:schemeClr val="accent1"/>
                </a:solidFill>
                <a:latin typeface="Lato"/>
                <a:ea typeface="Lato"/>
                <a:cs typeface="Lato"/>
                <a:sym typeface="Lato"/>
              </a:rPr>
              <a:t>:  keeps 49 local spatial tokens (texture, focal opacities).</a:t>
            </a:r>
            <a:endParaRPr sz="1800">
              <a:solidFill>
                <a:schemeClr val="accent1"/>
              </a:solidFill>
              <a:latin typeface="Lato"/>
              <a:ea typeface="Lato"/>
              <a:cs typeface="Lato"/>
              <a:sym typeface="Lato"/>
            </a:endParaRPr>
          </a:p>
          <a:p>
            <a:pPr indent="-254000" lvl="0" marL="254000" rtl="0" algn="l">
              <a:lnSpc>
                <a:spcPct val="115000"/>
              </a:lnSpc>
              <a:spcBef>
                <a:spcPts val="400"/>
              </a:spcBef>
              <a:spcAft>
                <a:spcPts val="0"/>
              </a:spcAft>
              <a:buNone/>
            </a:pPr>
            <a:r>
              <a:rPr b="1" lang="en-US" sz="1800">
                <a:solidFill>
                  <a:schemeClr val="accent1"/>
                </a:solidFill>
                <a:latin typeface="Lato"/>
                <a:ea typeface="Lato"/>
                <a:cs typeface="Lato"/>
                <a:sym typeface="Lato"/>
              </a:rPr>
              <a:t>ViT — ViT-tiny</a:t>
            </a:r>
            <a:r>
              <a:rPr lang="en-US" sz="1800">
                <a:solidFill>
                  <a:schemeClr val="accent1"/>
                </a:solidFill>
                <a:latin typeface="Lato"/>
                <a:ea typeface="Lato"/>
                <a:cs typeface="Lato"/>
                <a:sym typeface="Lato"/>
              </a:rPr>
              <a:t>:  197 global patch tokens for overall lung structure.</a:t>
            </a:r>
            <a:endParaRPr sz="1800">
              <a:solidFill>
                <a:schemeClr val="accent1"/>
              </a:solidFill>
              <a:latin typeface="Lato"/>
              <a:ea typeface="Lato"/>
              <a:cs typeface="Lato"/>
              <a:sym typeface="Lato"/>
            </a:endParaRPr>
          </a:p>
          <a:p>
            <a:pPr indent="-254000" lvl="0" marL="254000" rtl="0" algn="l">
              <a:lnSpc>
                <a:spcPct val="115000"/>
              </a:lnSpc>
              <a:spcBef>
                <a:spcPts val="400"/>
              </a:spcBef>
              <a:spcAft>
                <a:spcPts val="0"/>
              </a:spcAft>
              <a:buNone/>
            </a:pPr>
            <a:r>
              <a:rPr b="1" lang="en-US" sz="1800">
                <a:solidFill>
                  <a:schemeClr val="accent1"/>
                </a:solidFill>
                <a:latin typeface="Lato"/>
                <a:ea typeface="Lato"/>
                <a:cs typeface="Lato"/>
                <a:sym typeface="Lato"/>
              </a:rPr>
              <a:t>Fusion → classifier</a:t>
            </a:r>
            <a:r>
              <a:rPr lang="en-US" sz="1800">
                <a:solidFill>
                  <a:schemeClr val="accent1"/>
                </a:solidFill>
                <a:latin typeface="Lato"/>
                <a:ea typeface="Lato"/>
                <a:cs typeface="Lato"/>
                <a:sym typeface="Lato"/>
              </a:rPr>
              <a:t>:  the two token sets are combined, then classified into Normal / Bacterial / Viral.</a:t>
            </a:r>
            <a:endParaRPr sz="1800">
              <a:solidFill>
                <a:schemeClr val="accent1"/>
              </a:solidFill>
              <a:latin typeface="Lato"/>
              <a:ea typeface="Lato"/>
              <a:cs typeface="Lato"/>
              <a:sym typeface="Lato"/>
            </a:endParaRPr>
          </a:p>
          <a:p>
            <a:pPr indent="0" lvl="0" marL="0" rtl="0" algn="l">
              <a:lnSpc>
                <a:spcPct val="115000"/>
              </a:lnSpc>
              <a:spcBef>
                <a:spcPts val="500"/>
              </a:spcBef>
              <a:spcAft>
                <a:spcPts val="200"/>
              </a:spcAft>
              <a:buNone/>
            </a:pPr>
            <a:r>
              <a:rPr lang="en-US" sz="1800">
                <a:solidFill>
                  <a:schemeClr val="accent1"/>
                </a:solidFill>
                <a:latin typeface="Lato"/>
                <a:ea typeface="Lato"/>
                <a:cs typeface="Lato"/>
                <a:sym typeface="Lato"/>
              </a:rPr>
              <a:t>Both branches keep their spatial tokens (not collapsed to a single vector), so fusion can relate local detail to global context.</a:t>
            </a:r>
            <a:endParaRPr sz="1800">
              <a:solidFill>
                <a:schemeClr val="accent1"/>
              </a:solidFill>
              <a:latin typeface="Lato"/>
              <a:ea typeface="Lato"/>
              <a:cs typeface="Lato"/>
              <a:sym typeface="Lato"/>
            </a:endParaRPr>
          </a:p>
        </p:txBody>
      </p:sp>
      <p:pic>
        <p:nvPicPr>
          <p:cNvPr id="238" name="Google Shape;238;p10"/>
          <p:cNvPicPr preferRelativeResize="0"/>
          <p:nvPr/>
        </p:nvPicPr>
        <p:blipFill rotWithShape="1">
          <a:blip r:embed="rId3">
            <a:alphaModFix/>
          </a:blip>
          <a:srcRect b="5337" l="4222" r="5575" t="10210"/>
          <a:stretch/>
        </p:blipFill>
        <p:spPr>
          <a:xfrm>
            <a:off x="715138" y="3985200"/>
            <a:ext cx="7713725" cy="2273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Fusion Mechanism &amp; Regularization</a:t>
            </a:r>
            <a:endParaRPr/>
          </a:p>
        </p:txBody>
      </p:sp>
      <p:sp>
        <p:nvSpPr>
          <p:cNvPr id="245" name="Google Shape;245;p11"/>
          <p:cNvSpPr txBox="1"/>
          <p:nvPr>
            <p:ph idx="1" type="body"/>
          </p:nvPr>
        </p:nvSpPr>
        <p:spPr>
          <a:xfrm>
            <a:off x="457200" y="1600200"/>
            <a:ext cx="8229600" cy="2739600"/>
          </a:xfrm>
          <a:prstGeom prst="rect">
            <a:avLst/>
          </a:prstGeom>
          <a:noFill/>
          <a:ln>
            <a:noFill/>
          </a:ln>
        </p:spPr>
        <p:txBody>
          <a:bodyPr anchorCtr="0" anchor="t" bIns="45700" lIns="91425" spcFirstLastPara="1" rIns="91425" wrap="square" tIns="45700">
            <a:normAutofit/>
          </a:bodyPr>
          <a:lstStyle/>
          <a:p>
            <a:pPr indent="-254000" lvl="0" marL="254000" rtl="0" algn="l">
              <a:spcBef>
                <a:spcPts val="0"/>
              </a:spcBef>
              <a:spcAft>
                <a:spcPts val="0"/>
              </a:spcAft>
              <a:buNone/>
            </a:pPr>
            <a:r>
              <a:rPr b="1" lang="en-US" sz="1800"/>
              <a:t>Concatenation (baseline)</a:t>
            </a:r>
            <a:r>
              <a:rPr lang="en-US" sz="1800"/>
              <a:t>:  ViT CLS token + mean-pooled CNN tokens → a linear classifier.</a:t>
            </a:r>
            <a:endParaRPr sz="1800"/>
          </a:p>
          <a:p>
            <a:pPr indent="-254000" lvl="0" marL="254000" rtl="0" algn="l">
              <a:spcBef>
                <a:spcPts val="500"/>
              </a:spcBef>
              <a:spcAft>
                <a:spcPts val="0"/>
              </a:spcAft>
              <a:buNone/>
            </a:pPr>
            <a:r>
              <a:rPr b="1" lang="en-US" sz="1800"/>
              <a:t>Cross-attention (ablation)</a:t>
            </a:r>
            <a:r>
              <a:rPr lang="en-US" sz="1800"/>
              <a:t>:  ViT patch tokens query the CNN spatial tokens via multi-head attention, so global features pull in the most relevant local detail.</a:t>
            </a:r>
            <a:endParaRPr sz="1800"/>
          </a:p>
          <a:p>
            <a:pPr indent="-254000" lvl="0" marL="254000" rtl="0" algn="l">
              <a:spcBef>
                <a:spcPts val="500"/>
              </a:spcBef>
              <a:spcAft>
                <a:spcPts val="0"/>
              </a:spcAft>
              <a:buNone/>
            </a:pPr>
            <a:r>
              <a:rPr b="1" lang="en-US" sz="1800"/>
              <a:t>Regularization</a:t>
            </a:r>
            <a:r>
              <a:rPr lang="en-US" sz="1800"/>
              <a:t>:  embedding-level noise / dropout + class weighting to counter imbalance and overfitting.</a:t>
            </a:r>
            <a:endParaRPr sz="1800"/>
          </a:p>
          <a:p>
            <a:pPr indent="0" lvl="0" marL="0" rtl="0" algn="l">
              <a:spcBef>
                <a:spcPts val="360"/>
              </a:spcBef>
              <a:spcAft>
                <a:spcPts val="1200"/>
              </a:spcAft>
              <a:buNone/>
            </a:pPr>
            <a:r>
              <a:t/>
            </a:r>
            <a:endParaRPr sz="1800"/>
          </a:p>
        </p:txBody>
      </p:sp>
      <p:pic>
        <p:nvPicPr>
          <p:cNvPr id="246" name="Google Shape;246;p11"/>
          <p:cNvPicPr preferRelativeResize="0"/>
          <p:nvPr/>
        </p:nvPicPr>
        <p:blipFill>
          <a:blip r:embed="rId3">
            <a:alphaModFix/>
          </a:blip>
          <a:stretch>
            <a:fillRect/>
          </a:stretch>
        </p:blipFill>
        <p:spPr>
          <a:xfrm>
            <a:off x="1314775" y="3978775"/>
            <a:ext cx="6514438" cy="221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e5bac4619b_0_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Fusion Mechanism </a:t>
            </a:r>
            <a:endParaRPr/>
          </a:p>
        </p:txBody>
      </p:sp>
      <p:pic>
        <p:nvPicPr>
          <p:cNvPr id="253" name="Google Shape;253;g3e5bac4619b_0_26"/>
          <p:cNvPicPr preferRelativeResize="0"/>
          <p:nvPr/>
        </p:nvPicPr>
        <p:blipFill rotWithShape="1">
          <a:blip r:embed="rId3">
            <a:alphaModFix/>
          </a:blip>
          <a:srcRect b="0" l="1311" r="6996" t="0"/>
          <a:stretch/>
        </p:blipFill>
        <p:spPr>
          <a:xfrm>
            <a:off x="2134488" y="3702275"/>
            <a:ext cx="4875024" cy="1281825"/>
          </a:xfrm>
          <a:prstGeom prst="rect">
            <a:avLst/>
          </a:prstGeom>
          <a:noFill/>
          <a:ln>
            <a:noFill/>
          </a:ln>
        </p:spPr>
      </p:pic>
      <p:sp>
        <p:nvSpPr>
          <p:cNvPr id="254" name="Google Shape;254;g3e5bac4619b_0_26"/>
          <p:cNvSpPr txBox="1"/>
          <p:nvPr/>
        </p:nvSpPr>
        <p:spPr>
          <a:xfrm>
            <a:off x="1840225" y="1407025"/>
            <a:ext cx="2673300" cy="20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accent1"/>
                </a:solidFill>
                <a:latin typeface="Lato"/>
                <a:ea typeface="Lato"/>
                <a:cs typeface="Lato"/>
                <a:sym typeface="Lato"/>
              </a:rPr>
              <a:t>Concatenation </a:t>
            </a:r>
            <a:endParaRPr b="1" sz="1300">
              <a:solidFill>
                <a:schemeClr val="accent1"/>
              </a:solidFill>
              <a:latin typeface="Lato"/>
              <a:ea typeface="Lato"/>
              <a:cs typeface="Lato"/>
              <a:sym typeface="Lato"/>
            </a:endParaRPr>
          </a:p>
          <a:p>
            <a:pPr indent="0" lvl="0" marL="0" rtl="0" algn="l">
              <a:spcBef>
                <a:spcPts val="0"/>
              </a:spcBef>
              <a:spcAft>
                <a:spcPts val="0"/>
              </a:spcAft>
              <a:buNone/>
            </a:pPr>
            <a:r>
              <a:t/>
            </a:r>
            <a:endParaRPr b="1" sz="1300">
              <a:solidFill>
                <a:schemeClr val="accent1"/>
              </a:solidFill>
              <a:latin typeface="Lato"/>
              <a:ea typeface="Lato"/>
              <a:cs typeface="Lato"/>
              <a:sym typeface="Lato"/>
            </a:endParaRPr>
          </a:p>
          <a:p>
            <a:pPr indent="-311150" lvl="0" marL="457200" rtl="0" algn="l">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ViT CLS token + mean-pooled cnn map gives one vector and linear </a:t>
            </a:r>
            <a:r>
              <a:rPr lang="en-US" sz="1300">
                <a:solidFill>
                  <a:schemeClr val="accent1"/>
                </a:solidFill>
                <a:latin typeface="Lato"/>
                <a:ea typeface="Lato"/>
                <a:cs typeface="Lato"/>
                <a:sym typeface="Lato"/>
              </a:rPr>
              <a:t>classifier.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Fixed combination, the vit and cnn branch doesn’t interact before classifier</a:t>
            </a:r>
            <a:endParaRPr sz="1300">
              <a:solidFill>
                <a:schemeClr val="accent1"/>
              </a:solidFill>
              <a:latin typeface="Lato"/>
              <a:ea typeface="Lato"/>
              <a:cs typeface="Lato"/>
              <a:sym typeface="Lato"/>
            </a:endParaRPr>
          </a:p>
        </p:txBody>
      </p:sp>
      <p:sp>
        <p:nvSpPr>
          <p:cNvPr id="255" name="Google Shape;255;g3e5bac4619b_0_26"/>
          <p:cNvSpPr txBox="1"/>
          <p:nvPr/>
        </p:nvSpPr>
        <p:spPr>
          <a:xfrm>
            <a:off x="4630475" y="1347250"/>
            <a:ext cx="2673300" cy="2216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accent1"/>
                </a:solidFill>
                <a:latin typeface="Lato"/>
                <a:ea typeface="Lato"/>
                <a:cs typeface="Lato"/>
                <a:sym typeface="Lato"/>
              </a:rPr>
              <a:t>Cross-Attention</a:t>
            </a:r>
            <a:endParaRPr b="1" sz="1300">
              <a:solidFill>
                <a:schemeClr val="accent1"/>
              </a:solidFill>
              <a:latin typeface="Lato"/>
              <a:ea typeface="Lato"/>
              <a:cs typeface="Lato"/>
              <a:sym typeface="Lato"/>
            </a:endParaRPr>
          </a:p>
          <a:p>
            <a:pPr indent="0" lvl="0" marL="0" rtl="0" algn="l">
              <a:spcBef>
                <a:spcPts val="0"/>
              </a:spcBef>
              <a:spcAft>
                <a:spcPts val="0"/>
              </a:spcAft>
              <a:buNone/>
            </a:pPr>
            <a:r>
              <a:t/>
            </a:r>
            <a:endParaRPr b="1"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US" sz="1200">
                <a:solidFill>
                  <a:srgbClr val="595959"/>
                </a:solidFill>
                <a:latin typeface="Lato"/>
                <a:ea typeface="Lato"/>
                <a:cs typeface="Lato"/>
                <a:sym typeface="Lato"/>
              </a:rPr>
              <a:t>ViT tokens query the CNN spatial tokens (multi-head), then pool</a:t>
            </a:r>
            <a:endParaRPr sz="1300">
              <a:solidFill>
                <a:srgbClr val="595959"/>
              </a:solidFill>
              <a:latin typeface="Lato"/>
              <a:ea typeface="Lato"/>
              <a:cs typeface="Lato"/>
              <a:sym typeface="Lato"/>
            </a:endParaRPr>
          </a:p>
          <a:p>
            <a:pPr indent="-311150" lvl="0" marL="457200" rtl="0" algn="l">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Learned interaction, but a fresh attention block to train, which is more Hyperparameter sensitive harder to </a:t>
            </a:r>
            <a:r>
              <a:rPr lang="en-US" sz="1300">
                <a:solidFill>
                  <a:schemeClr val="accent1"/>
                </a:solidFill>
                <a:latin typeface="Lato"/>
                <a:ea typeface="Lato"/>
                <a:cs typeface="Lato"/>
                <a:sym typeface="Lato"/>
              </a:rPr>
              <a:t>optimize</a:t>
            </a:r>
            <a:endParaRPr sz="1300">
              <a:solidFill>
                <a:schemeClr val="accent1"/>
              </a:solidFill>
              <a:latin typeface="Lato"/>
              <a:ea typeface="Lato"/>
              <a:cs typeface="Lato"/>
              <a:sym typeface="Lato"/>
            </a:endParaRPr>
          </a:p>
        </p:txBody>
      </p:sp>
      <p:sp>
        <p:nvSpPr>
          <p:cNvPr id="256" name="Google Shape;256;g3e5bac4619b_0_26"/>
          <p:cNvSpPr txBox="1"/>
          <p:nvPr/>
        </p:nvSpPr>
        <p:spPr>
          <a:xfrm>
            <a:off x="650625" y="5056450"/>
            <a:ext cx="71709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accent1"/>
                </a:solidFill>
                <a:latin typeface="Lato"/>
                <a:ea typeface="Lato"/>
                <a:cs typeface="Lato"/>
                <a:sym typeface="Lato"/>
              </a:rPr>
              <a:t>In this experiment setup concatenation has </a:t>
            </a:r>
            <a:r>
              <a:rPr lang="en-US" sz="1300">
                <a:solidFill>
                  <a:schemeClr val="accent1"/>
                </a:solidFill>
                <a:latin typeface="Lato"/>
                <a:ea typeface="Lato"/>
                <a:cs typeface="Lato"/>
                <a:sym typeface="Lato"/>
              </a:rPr>
              <a:t>performed</a:t>
            </a:r>
            <a:r>
              <a:rPr lang="en-US" sz="1300">
                <a:solidFill>
                  <a:schemeClr val="accent1"/>
                </a:solidFill>
                <a:latin typeface="Lato"/>
                <a:ea typeface="Lato"/>
                <a:cs typeface="Lato"/>
                <a:sym typeface="Lato"/>
              </a:rPr>
              <a:t> better as cross attention’s extra block was harder to train and </a:t>
            </a:r>
            <a:r>
              <a:rPr lang="en-US" sz="1300">
                <a:solidFill>
                  <a:schemeClr val="accent1"/>
                </a:solidFill>
                <a:latin typeface="Lato"/>
                <a:ea typeface="Lato"/>
                <a:cs typeface="Lato"/>
                <a:sym typeface="Lato"/>
              </a:rPr>
              <a:t>collapsed</a:t>
            </a:r>
            <a:r>
              <a:rPr lang="en-US" sz="1300">
                <a:solidFill>
                  <a:schemeClr val="accent1"/>
                </a:solidFill>
                <a:latin typeface="Lato"/>
                <a:ea typeface="Lato"/>
                <a:cs typeface="Lato"/>
                <a:sym typeface="Lato"/>
              </a:rPr>
              <a:t> on viral, the hardest and most fusion </a:t>
            </a:r>
            <a:r>
              <a:rPr lang="en-US" sz="1300">
                <a:solidFill>
                  <a:schemeClr val="accent1"/>
                </a:solidFill>
                <a:latin typeface="Lato"/>
                <a:ea typeface="Lato"/>
                <a:cs typeface="Lato"/>
                <a:sym typeface="Lato"/>
              </a:rPr>
              <a:t>depend</a:t>
            </a:r>
            <a:r>
              <a:rPr lang="en-US" sz="1300">
                <a:solidFill>
                  <a:schemeClr val="accent1"/>
                </a:solidFill>
                <a:latin typeface="Lato"/>
                <a:ea typeface="Lato"/>
                <a:cs typeface="Lato"/>
                <a:sym typeface="Lato"/>
              </a:rPr>
              <a:t> class - so concatenation is our hybrid setup here in the final results.</a:t>
            </a:r>
            <a:endParaRPr sz="1300">
              <a:solidFill>
                <a:schemeClr val="accent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e59ea9646d_4_0"/>
          <p:cNvSpPr txBox="1"/>
          <p:nvPr>
            <p:ph type="title"/>
          </p:nvPr>
        </p:nvSpPr>
        <p:spPr>
          <a:xfrm>
            <a:off x="457200" y="459563"/>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a:t>Hyperparameter Tuning</a:t>
            </a:r>
            <a:endParaRPr/>
          </a:p>
          <a:p>
            <a:pPr indent="0" lvl="0" marL="0" rtl="0" algn="ctr">
              <a:spcBef>
                <a:spcPts val="0"/>
              </a:spcBef>
              <a:spcAft>
                <a:spcPts val="0"/>
              </a:spcAft>
              <a:buNone/>
            </a:pPr>
            <a:r>
              <a:t/>
            </a:r>
            <a:endParaRPr/>
          </a:p>
        </p:txBody>
      </p:sp>
      <p:sp>
        <p:nvSpPr>
          <p:cNvPr id="262" name="Google Shape;262;g3e59ea9646d_4_0"/>
          <p:cNvSpPr txBox="1"/>
          <p:nvPr>
            <p:ph idx="1" type="body"/>
          </p:nvPr>
        </p:nvSpPr>
        <p:spPr>
          <a:xfrm>
            <a:off x="539575" y="3609575"/>
            <a:ext cx="8229600" cy="1657800"/>
          </a:xfrm>
          <a:prstGeom prst="rect">
            <a:avLst/>
          </a:prstGeom>
        </p:spPr>
        <p:txBody>
          <a:bodyPr anchorCtr="0" anchor="t" bIns="45700" lIns="91425" spcFirstLastPara="1" rIns="91425" wrap="square" tIns="45700">
            <a:normAutofit fontScale="92500" lnSpcReduction="20000"/>
          </a:bodyPr>
          <a:lstStyle/>
          <a:p>
            <a:pPr indent="-254000" lvl="0" marL="254000" rtl="0" algn="l">
              <a:spcBef>
                <a:spcPts val="0"/>
              </a:spcBef>
              <a:spcAft>
                <a:spcPts val="0"/>
              </a:spcAft>
              <a:buNone/>
            </a:pPr>
            <a:r>
              <a:rPr b="1" lang="en-US" sz="1800"/>
              <a:t>Two-phase search, run separately for each fusion type</a:t>
            </a:r>
            <a:endParaRPr b="1" sz="1800"/>
          </a:p>
          <a:p>
            <a:pPr indent="-254000" lvl="0" marL="254000" rtl="0" algn="l">
              <a:spcBef>
                <a:spcPts val="500"/>
              </a:spcBef>
              <a:spcAft>
                <a:spcPts val="0"/>
              </a:spcAft>
              <a:buNone/>
            </a:pPr>
            <a:r>
              <a:rPr b="1" lang="en-US" sz="1800"/>
              <a:t>27 configs</a:t>
            </a:r>
            <a:r>
              <a:rPr lang="en-US" sz="1800"/>
              <a:t> (learning rate × dropout × weight decay) screened for 8 epochs → best configs retrained for 20 epochs.</a:t>
            </a:r>
            <a:endParaRPr sz="1800"/>
          </a:p>
          <a:p>
            <a:pPr indent="-254000" lvl="0" marL="254000" rtl="0" algn="l">
              <a:spcBef>
                <a:spcPts val="400"/>
              </a:spcBef>
              <a:spcAft>
                <a:spcPts val="0"/>
              </a:spcAft>
              <a:buNone/>
            </a:pPr>
            <a:r>
              <a:rPr lang="en-US" sz="1800"/>
              <a:t>Selected on a stratified fold held out from train — the official 16-image val (with 0 viral cases) is too small to select on.</a:t>
            </a:r>
            <a:endParaRPr sz="1800"/>
          </a:p>
          <a:p>
            <a:pPr indent="0" lvl="0" marL="0" rtl="0" algn="l">
              <a:spcBef>
                <a:spcPts val="360"/>
              </a:spcBef>
              <a:spcAft>
                <a:spcPts val="1200"/>
              </a:spcAft>
              <a:buNone/>
            </a:pPr>
            <a:r>
              <a:t/>
            </a:r>
            <a:endParaRPr/>
          </a:p>
        </p:txBody>
      </p:sp>
      <p:sp>
        <p:nvSpPr>
          <p:cNvPr id="263" name="Google Shape;263;g3e59ea9646d_4_0"/>
          <p:cNvSpPr txBox="1"/>
          <p:nvPr/>
        </p:nvSpPr>
        <p:spPr>
          <a:xfrm>
            <a:off x="6666575" y="1789275"/>
            <a:ext cx="22005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lang="en-US" sz="1300">
                <a:solidFill>
                  <a:schemeClr val="accent1"/>
                </a:solidFill>
                <a:latin typeface="Lato"/>
                <a:ea typeface="Lato"/>
                <a:cs typeface="Lato"/>
                <a:sym typeface="Lato"/>
              </a:rPr>
              <a:t>Learning rate dominates — dropout and weight decay barely move validation recall.</a:t>
            </a:r>
            <a:endParaRPr b="1" sz="650">
              <a:solidFill>
                <a:srgbClr val="171E2D"/>
              </a:solidFill>
            </a:endParaRPr>
          </a:p>
        </p:txBody>
      </p:sp>
      <p:pic>
        <p:nvPicPr>
          <p:cNvPr id="264" name="Google Shape;264;g3e59ea9646d_4_0"/>
          <p:cNvPicPr preferRelativeResize="0"/>
          <p:nvPr/>
        </p:nvPicPr>
        <p:blipFill>
          <a:blip r:embed="rId3">
            <a:alphaModFix/>
          </a:blip>
          <a:stretch>
            <a:fillRect/>
          </a:stretch>
        </p:blipFill>
        <p:spPr>
          <a:xfrm>
            <a:off x="457200" y="1281038"/>
            <a:ext cx="6081274" cy="2091650"/>
          </a:xfrm>
          <a:prstGeom prst="rect">
            <a:avLst/>
          </a:prstGeom>
          <a:noFill/>
          <a:ln>
            <a:noFill/>
          </a:ln>
        </p:spPr>
      </p:pic>
      <p:pic>
        <p:nvPicPr>
          <p:cNvPr id="265" name="Google Shape;265;g3e59ea9646d_4_0"/>
          <p:cNvPicPr preferRelativeResize="0"/>
          <p:nvPr/>
        </p:nvPicPr>
        <p:blipFill>
          <a:blip r:embed="rId4">
            <a:alphaModFix/>
          </a:blip>
          <a:stretch>
            <a:fillRect/>
          </a:stretch>
        </p:blipFill>
        <p:spPr>
          <a:xfrm>
            <a:off x="2082750" y="5083975"/>
            <a:ext cx="4978500" cy="1451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Results</a:t>
            </a:r>
            <a:endParaRPr/>
          </a:p>
        </p:txBody>
      </p:sp>
      <p:graphicFrame>
        <p:nvGraphicFramePr>
          <p:cNvPr id="272" name="Google Shape;272;p14"/>
          <p:cNvGraphicFramePr/>
          <p:nvPr/>
        </p:nvGraphicFramePr>
        <p:xfrm>
          <a:off x="1582063" y="2520650"/>
          <a:ext cx="3000000" cy="3000000"/>
        </p:xfrm>
        <a:graphic>
          <a:graphicData uri="http://schemas.openxmlformats.org/drawingml/2006/table">
            <a:tbl>
              <a:tblPr>
                <a:noFill/>
                <a:tableStyleId>{186CA02C-15E5-4BA8-88A9-FE3F898A0D4D}</a:tableStyleId>
              </a:tblPr>
              <a:tblGrid>
                <a:gridCol w="1195975"/>
                <a:gridCol w="1195975"/>
                <a:gridCol w="1195975"/>
                <a:gridCol w="1195975"/>
                <a:gridCol w="1195975"/>
              </a:tblGrid>
              <a:tr h="6606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LR</a:t>
                      </a:r>
                      <a:endParaRPr/>
                    </a:p>
                  </a:txBody>
                  <a:tcPr marT="91425" marB="91425" marR="91425" marL="91425"/>
                </a:tc>
                <a:tc>
                  <a:txBody>
                    <a:bodyPr/>
                    <a:lstStyle/>
                    <a:p>
                      <a:pPr indent="0" lvl="0" marL="0" rtl="0" algn="l">
                        <a:spcBef>
                          <a:spcPts val="0"/>
                        </a:spcBef>
                        <a:spcAft>
                          <a:spcPts val="0"/>
                        </a:spcAft>
                        <a:buNone/>
                      </a:pPr>
                      <a:r>
                        <a:rPr lang="en-US"/>
                        <a:t>CNN</a:t>
                      </a:r>
                      <a:endParaRPr/>
                    </a:p>
                  </a:txBody>
                  <a:tcPr marT="91425" marB="91425" marR="91425" marL="91425"/>
                </a:tc>
                <a:tc>
                  <a:txBody>
                    <a:bodyPr/>
                    <a:lstStyle/>
                    <a:p>
                      <a:pPr indent="0" lvl="0" marL="0" rtl="0" algn="l">
                        <a:spcBef>
                          <a:spcPts val="0"/>
                        </a:spcBef>
                        <a:spcAft>
                          <a:spcPts val="0"/>
                        </a:spcAft>
                        <a:buNone/>
                      </a:pPr>
                      <a:r>
                        <a:rPr lang="en-US"/>
                        <a:t>ViT</a:t>
                      </a:r>
                      <a:endParaRPr/>
                    </a:p>
                  </a:txBody>
                  <a:tcPr marT="91425" marB="91425" marR="91425" marL="91425"/>
                </a:tc>
                <a:tc>
                  <a:txBody>
                    <a:bodyPr/>
                    <a:lstStyle/>
                    <a:p>
                      <a:pPr indent="0" lvl="0" marL="0" rtl="0" algn="l">
                        <a:spcBef>
                          <a:spcPts val="0"/>
                        </a:spcBef>
                        <a:spcAft>
                          <a:spcPts val="0"/>
                        </a:spcAft>
                        <a:buNone/>
                      </a:pPr>
                      <a:r>
                        <a:rPr lang="en-US"/>
                        <a:t>Hybrid (Concat)</a:t>
                      </a:r>
                      <a:endParaRPr/>
                    </a:p>
                  </a:txBody>
                  <a:tcPr marT="91425" marB="91425" marR="91425" marL="91425"/>
                </a:tc>
              </a:tr>
              <a:tr h="593200">
                <a:tc>
                  <a:txBody>
                    <a:bodyPr/>
                    <a:lstStyle/>
                    <a:p>
                      <a:pPr indent="0" lvl="0" marL="0" rtl="0" algn="l">
                        <a:spcBef>
                          <a:spcPts val="0"/>
                        </a:spcBef>
                        <a:spcAft>
                          <a:spcPts val="0"/>
                        </a:spcAft>
                        <a:buNone/>
                      </a:pPr>
                      <a:r>
                        <a:rPr lang="en-US"/>
                        <a:t>Macro Recall</a:t>
                      </a:r>
                      <a:endParaRPr/>
                    </a:p>
                  </a:txBody>
                  <a:tcPr marT="91425" marB="91425" marR="91425" marL="91425"/>
                </a:tc>
                <a:tc>
                  <a:txBody>
                    <a:bodyPr/>
                    <a:lstStyle/>
                    <a:p>
                      <a:pPr indent="0" lvl="0" marL="0" rtl="0" algn="l">
                        <a:spcBef>
                          <a:spcPts val="0"/>
                        </a:spcBef>
                        <a:spcAft>
                          <a:spcPts val="0"/>
                        </a:spcAft>
                        <a:buNone/>
                      </a:pPr>
                      <a:r>
                        <a:rPr lang="en-US"/>
                        <a:t>0.69</a:t>
                      </a:r>
                      <a:endParaRPr/>
                    </a:p>
                  </a:txBody>
                  <a:tcPr marT="91425" marB="91425" marR="91425" marL="91425"/>
                </a:tc>
                <a:tc>
                  <a:txBody>
                    <a:bodyPr/>
                    <a:lstStyle/>
                    <a:p>
                      <a:pPr indent="0" lvl="0" marL="0" rtl="0" algn="l">
                        <a:spcBef>
                          <a:spcPts val="0"/>
                        </a:spcBef>
                        <a:spcAft>
                          <a:spcPts val="0"/>
                        </a:spcAft>
                        <a:buNone/>
                      </a:pPr>
                      <a:r>
                        <a:rPr lang="en-US"/>
                        <a:t>0.82</a:t>
                      </a:r>
                      <a:endParaRPr/>
                    </a:p>
                  </a:txBody>
                  <a:tcPr marT="91425" marB="91425" marR="91425" marL="91425"/>
                </a:tc>
                <a:tc>
                  <a:txBody>
                    <a:bodyPr/>
                    <a:lstStyle/>
                    <a:p>
                      <a:pPr indent="0" lvl="0" marL="0" rtl="0" algn="l">
                        <a:spcBef>
                          <a:spcPts val="0"/>
                        </a:spcBef>
                        <a:spcAft>
                          <a:spcPts val="0"/>
                        </a:spcAft>
                        <a:buNone/>
                      </a:pPr>
                      <a:r>
                        <a:rPr lang="en-US"/>
                        <a:t>0.84</a:t>
                      </a:r>
                      <a:endParaRPr/>
                    </a:p>
                  </a:txBody>
                  <a:tcPr marT="91425" marB="91425" marR="91425" marL="91425"/>
                </a:tc>
                <a:tc>
                  <a:txBody>
                    <a:bodyPr/>
                    <a:lstStyle/>
                    <a:p>
                      <a:pPr indent="0" lvl="0" marL="0" rtl="0" algn="l">
                        <a:spcBef>
                          <a:spcPts val="0"/>
                        </a:spcBef>
                        <a:spcAft>
                          <a:spcPts val="0"/>
                        </a:spcAft>
                        <a:buNone/>
                      </a:pPr>
                      <a:r>
                        <a:rPr lang="en-US"/>
                        <a:t> 0.74</a:t>
                      </a:r>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e5bba8efbe_0_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Comparison</a:t>
            </a:r>
            <a:endParaRPr/>
          </a:p>
        </p:txBody>
      </p:sp>
      <p:sp>
        <p:nvSpPr>
          <p:cNvPr id="279" name="Google Shape;279;g3e5bba8efbe_0_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Logistic Regression: Simple but limited</a:t>
            </a:r>
            <a:endParaRPr/>
          </a:p>
          <a:p>
            <a:pPr indent="-342900" lvl="0" marL="342900" rtl="0" algn="l">
              <a:spcBef>
                <a:spcPts val="360"/>
              </a:spcBef>
              <a:spcAft>
                <a:spcPts val="0"/>
              </a:spcAft>
              <a:buClr>
                <a:schemeClr val="dk1"/>
              </a:buClr>
              <a:buSzPts val="1800"/>
              <a:buChar char="●"/>
            </a:pPr>
            <a:r>
              <a:rPr lang="en-US" sz="1800"/>
              <a:t>CNN: Strong local feature extraction</a:t>
            </a:r>
            <a:endParaRPr/>
          </a:p>
          <a:p>
            <a:pPr indent="-342900" lvl="0" marL="342900" rtl="0" algn="l">
              <a:spcBef>
                <a:spcPts val="360"/>
              </a:spcBef>
              <a:spcAft>
                <a:spcPts val="0"/>
              </a:spcAft>
              <a:buClr>
                <a:schemeClr val="dk1"/>
              </a:buClr>
              <a:buSzPts val="1800"/>
              <a:buChar char="●"/>
            </a:pPr>
            <a:r>
              <a:rPr lang="en-US" sz="1800"/>
              <a:t>ViT: Strong global context</a:t>
            </a:r>
            <a:endParaRPr/>
          </a:p>
          <a:p>
            <a:pPr indent="-342900" lvl="0" marL="342900" rtl="0" algn="l">
              <a:spcBef>
                <a:spcPts val="360"/>
              </a:spcBef>
              <a:spcAft>
                <a:spcPts val="0"/>
              </a:spcAft>
              <a:buClr>
                <a:schemeClr val="dk1"/>
              </a:buClr>
              <a:buSzPts val="1800"/>
              <a:buChar char="●"/>
            </a:pPr>
            <a:r>
              <a:rPr lang="en-US" sz="1800"/>
              <a:t>Hybrid Model: </a:t>
            </a:r>
            <a:r>
              <a:rPr lang="en-US" sz="1800"/>
              <a:t>Combines local and global representations</a:t>
            </a:r>
            <a:endParaRPr/>
          </a:p>
          <a:p>
            <a:pPr indent="0" lvl="0" marL="0" rtl="0" algn="l">
              <a:spcBef>
                <a:spcPts val="360"/>
              </a:spcBef>
              <a:spcAft>
                <a:spcPts val="0"/>
              </a:spcAft>
              <a:buNone/>
            </a:pPr>
            <a:r>
              <a:t/>
            </a:r>
            <a:endParaRPr sz="1800"/>
          </a:p>
          <a:p>
            <a:pPr indent="0" lvl="0" marL="0" rtl="0" algn="l">
              <a:spcBef>
                <a:spcPts val="1200"/>
              </a:spcBef>
              <a:spcAft>
                <a:spcPts val="1200"/>
              </a:spcAft>
              <a:buNone/>
            </a:pPr>
            <a:r>
              <a:t/>
            </a:r>
            <a:endParaRPr sz="1800"/>
          </a:p>
        </p:txBody>
      </p:sp>
      <p:graphicFrame>
        <p:nvGraphicFramePr>
          <p:cNvPr id="280" name="Google Shape;280;g3e5bba8efbe_0_18"/>
          <p:cNvGraphicFramePr/>
          <p:nvPr/>
        </p:nvGraphicFramePr>
        <p:xfrm>
          <a:off x="875688" y="3349550"/>
          <a:ext cx="3000000" cy="3000000"/>
        </p:xfrm>
        <a:graphic>
          <a:graphicData uri="http://schemas.openxmlformats.org/drawingml/2006/table">
            <a:tbl>
              <a:tblPr>
                <a:noFill/>
                <a:tableStyleId>{186CA02C-15E5-4BA8-88A9-FE3F898A0D4D}</a:tableStyleId>
              </a:tblPr>
              <a:tblGrid>
                <a:gridCol w="1478525"/>
                <a:gridCol w="1478525"/>
                <a:gridCol w="1478525"/>
                <a:gridCol w="1478525"/>
                <a:gridCol w="1478525"/>
              </a:tblGrid>
              <a:tr h="384425">
                <a:tc>
                  <a:txBody>
                    <a:bodyPr/>
                    <a:lstStyle/>
                    <a:p>
                      <a:pPr indent="0" lvl="0" marL="0" rtl="0" algn="l">
                        <a:spcBef>
                          <a:spcPts val="0"/>
                        </a:spcBef>
                        <a:spcAft>
                          <a:spcPts val="0"/>
                        </a:spcAft>
                        <a:buNone/>
                      </a:pPr>
                      <a:r>
                        <a:rPr lang="en-US"/>
                        <a:t>Model</a:t>
                      </a:r>
                      <a:endParaRPr/>
                    </a:p>
                  </a:txBody>
                  <a:tcPr marT="91425" marB="91425" marR="91425" marL="91425"/>
                </a:tc>
                <a:tc>
                  <a:txBody>
                    <a:bodyPr/>
                    <a:lstStyle/>
                    <a:p>
                      <a:pPr indent="0" lvl="0" marL="0" rtl="0" algn="l">
                        <a:spcBef>
                          <a:spcPts val="0"/>
                        </a:spcBef>
                        <a:spcAft>
                          <a:spcPts val="0"/>
                        </a:spcAft>
                        <a:buNone/>
                      </a:pPr>
                      <a:r>
                        <a:rPr lang="en-US"/>
                        <a:t>Macro Recall</a:t>
                      </a:r>
                      <a:endParaRPr/>
                    </a:p>
                  </a:txBody>
                  <a:tcPr marT="91425" marB="91425" marR="91425" marL="91425"/>
                </a:tc>
                <a:tc>
                  <a:txBody>
                    <a:bodyPr/>
                    <a:lstStyle/>
                    <a:p>
                      <a:pPr indent="0" lvl="0" marL="0" rtl="0" algn="l">
                        <a:spcBef>
                          <a:spcPts val="0"/>
                        </a:spcBef>
                        <a:spcAft>
                          <a:spcPts val="0"/>
                        </a:spcAft>
                        <a:buNone/>
                      </a:pPr>
                      <a:r>
                        <a:rPr lang="en-US"/>
                        <a:t>Normal Recall</a:t>
                      </a:r>
                      <a:endParaRPr/>
                    </a:p>
                  </a:txBody>
                  <a:tcPr marT="91425" marB="91425" marR="91425" marL="91425"/>
                </a:tc>
                <a:tc>
                  <a:txBody>
                    <a:bodyPr/>
                    <a:lstStyle/>
                    <a:p>
                      <a:pPr indent="0" lvl="0" marL="0" rtl="0" algn="l">
                        <a:spcBef>
                          <a:spcPts val="0"/>
                        </a:spcBef>
                        <a:spcAft>
                          <a:spcPts val="0"/>
                        </a:spcAft>
                        <a:buNone/>
                      </a:pPr>
                      <a:r>
                        <a:rPr lang="en-US"/>
                        <a:t>Bacterial Recall</a:t>
                      </a:r>
                      <a:endParaRPr/>
                    </a:p>
                  </a:txBody>
                  <a:tcPr marT="91425" marB="91425" marR="91425" marL="91425"/>
                </a:tc>
                <a:tc>
                  <a:txBody>
                    <a:bodyPr/>
                    <a:lstStyle/>
                    <a:p>
                      <a:pPr indent="0" lvl="0" marL="0" rtl="0" algn="l">
                        <a:spcBef>
                          <a:spcPts val="0"/>
                        </a:spcBef>
                        <a:spcAft>
                          <a:spcPts val="0"/>
                        </a:spcAft>
                        <a:buNone/>
                      </a:pPr>
                      <a:r>
                        <a:rPr lang="en-US"/>
                        <a:t>Viral Recall</a:t>
                      </a:r>
                      <a:endParaRPr/>
                    </a:p>
                  </a:txBody>
                  <a:tcPr marT="91425" marB="91425" marR="91425" marL="91425"/>
                </a:tc>
              </a:tr>
              <a:tr h="560925">
                <a:tc>
                  <a:txBody>
                    <a:bodyPr/>
                    <a:lstStyle/>
                    <a:p>
                      <a:pPr indent="0" lvl="0" marL="0" rtl="0" algn="l">
                        <a:spcBef>
                          <a:spcPts val="0"/>
                        </a:spcBef>
                        <a:spcAft>
                          <a:spcPts val="0"/>
                        </a:spcAft>
                        <a:buNone/>
                      </a:pPr>
                      <a:r>
                        <a:rPr lang="en-US"/>
                        <a:t>Logistic Regression</a:t>
                      </a:r>
                      <a:endParaRPr/>
                    </a:p>
                  </a:txBody>
                  <a:tcPr marT="91425" marB="91425" marR="91425" marL="91425"/>
                </a:tc>
                <a:tc>
                  <a:txBody>
                    <a:bodyPr/>
                    <a:lstStyle/>
                    <a:p>
                      <a:pPr indent="0" lvl="0" marL="0" rtl="0" algn="l">
                        <a:spcBef>
                          <a:spcPts val="0"/>
                        </a:spcBef>
                        <a:spcAft>
                          <a:spcPts val="0"/>
                        </a:spcAft>
                        <a:buNone/>
                      </a:pPr>
                      <a:r>
                        <a:rPr lang="en-US"/>
                        <a:t>0.69</a:t>
                      </a:r>
                      <a:endParaRPr/>
                    </a:p>
                  </a:txBody>
                  <a:tcPr marT="91425" marB="91425" marR="91425" marL="91425"/>
                </a:tc>
                <a:tc>
                  <a:txBody>
                    <a:bodyPr/>
                    <a:lstStyle/>
                    <a:p>
                      <a:pPr indent="0" lvl="0" marL="0" rtl="0" algn="l">
                        <a:spcBef>
                          <a:spcPts val="0"/>
                        </a:spcBef>
                        <a:spcAft>
                          <a:spcPts val="0"/>
                        </a:spcAft>
                        <a:buNone/>
                      </a:pPr>
                      <a:r>
                        <a:rPr lang="en-US"/>
                        <a:t>0.43</a:t>
                      </a:r>
                      <a:endParaRPr/>
                    </a:p>
                  </a:txBody>
                  <a:tcPr marT="91425" marB="91425" marR="91425" marL="91425"/>
                </a:tc>
                <a:tc>
                  <a:txBody>
                    <a:bodyPr/>
                    <a:lstStyle/>
                    <a:p>
                      <a:pPr indent="0" lvl="0" marL="0" rtl="0" algn="l">
                        <a:spcBef>
                          <a:spcPts val="0"/>
                        </a:spcBef>
                        <a:spcAft>
                          <a:spcPts val="0"/>
                        </a:spcAft>
                        <a:buNone/>
                      </a:pPr>
                      <a:r>
                        <a:rPr lang="en-US"/>
                        <a:t>0.89</a:t>
                      </a:r>
                      <a:endParaRPr/>
                    </a:p>
                  </a:txBody>
                  <a:tcPr marT="91425" marB="91425" marR="91425" marL="91425"/>
                </a:tc>
                <a:tc>
                  <a:txBody>
                    <a:bodyPr/>
                    <a:lstStyle/>
                    <a:p>
                      <a:pPr indent="0" lvl="0" marL="0" rtl="0" algn="l">
                        <a:spcBef>
                          <a:spcPts val="0"/>
                        </a:spcBef>
                        <a:spcAft>
                          <a:spcPts val="0"/>
                        </a:spcAft>
                        <a:buNone/>
                      </a:pPr>
                      <a:r>
                        <a:rPr lang="en-US"/>
                        <a:t>0.75</a:t>
                      </a:r>
                      <a:endParaRPr/>
                    </a:p>
                  </a:txBody>
                  <a:tcPr marT="91425" marB="91425" marR="91425" marL="91425"/>
                </a:tc>
              </a:tr>
              <a:tr h="560925">
                <a:tc>
                  <a:txBody>
                    <a:bodyPr/>
                    <a:lstStyle/>
                    <a:p>
                      <a:pPr indent="0" lvl="0" marL="0" rtl="0" algn="l">
                        <a:spcBef>
                          <a:spcPts val="0"/>
                        </a:spcBef>
                        <a:spcAft>
                          <a:spcPts val="0"/>
                        </a:spcAft>
                        <a:buNone/>
                      </a:pPr>
                      <a:r>
                        <a:rPr lang="en-US"/>
                        <a:t>CNN(DenseNet 121)</a:t>
                      </a:r>
                      <a:endParaRPr/>
                    </a:p>
                  </a:txBody>
                  <a:tcPr marT="91425" marB="91425" marR="91425" marL="91425"/>
                </a:tc>
                <a:tc>
                  <a:txBody>
                    <a:bodyPr/>
                    <a:lstStyle/>
                    <a:p>
                      <a:pPr indent="0" lvl="0" marL="0" rtl="0" algn="l">
                        <a:spcBef>
                          <a:spcPts val="0"/>
                        </a:spcBef>
                        <a:spcAft>
                          <a:spcPts val="0"/>
                        </a:spcAft>
                        <a:buNone/>
                      </a:pPr>
                      <a:r>
                        <a:rPr lang="en-US"/>
                        <a:t>0.82</a:t>
                      </a:r>
                      <a:endParaRPr/>
                    </a:p>
                  </a:txBody>
                  <a:tcPr marT="91425" marB="91425" marR="91425" marL="91425"/>
                </a:tc>
                <a:tc>
                  <a:txBody>
                    <a:bodyPr/>
                    <a:lstStyle/>
                    <a:p>
                      <a:pPr indent="0" lvl="0" marL="0" rtl="0" algn="l">
                        <a:spcBef>
                          <a:spcPts val="0"/>
                        </a:spcBef>
                        <a:spcAft>
                          <a:spcPts val="0"/>
                        </a:spcAft>
                        <a:buNone/>
                      </a:pPr>
                      <a:r>
                        <a:rPr lang="en-US"/>
                        <a:t>0.</a:t>
                      </a:r>
                      <a:r>
                        <a:rPr lang="en-US"/>
                        <a:t>70</a:t>
                      </a:r>
                      <a:endParaRPr/>
                    </a:p>
                  </a:txBody>
                  <a:tcPr marT="91425" marB="91425" marR="91425" marL="91425"/>
                </a:tc>
                <a:tc>
                  <a:txBody>
                    <a:bodyPr/>
                    <a:lstStyle/>
                    <a:p>
                      <a:pPr indent="0" lvl="0" marL="0" rtl="0" algn="l">
                        <a:spcBef>
                          <a:spcPts val="0"/>
                        </a:spcBef>
                        <a:spcAft>
                          <a:spcPts val="0"/>
                        </a:spcAft>
                        <a:buNone/>
                      </a:pPr>
                      <a:r>
                        <a:rPr lang="en-US"/>
                        <a:t>0.88</a:t>
                      </a:r>
                      <a:endParaRPr/>
                    </a:p>
                  </a:txBody>
                  <a:tcPr marT="91425" marB="91425" marR="91425" marL="91425"/>
                </a:tc>
                <a:tc>
                  <a:txBody>
                    <a:bodyPr/>
                    <a:lstStyle/>
                    <a:p>
                      <a:pPr indent="0" lvl="0" marL="0" rtl="0" algn="l">
                        <a:spcBef>
                          <a:spcPts val="0"/>
                        </a:spcBef>
                        <a:spcAft>
                          <a:spcPts val="0"/>
                        </a:spcAft>
                        <a:buNone/>
                      </a:pPr>
                      <a:r>
                        <a:rPr lang="en-US"/>
                        <a:t>0.88</a:t>
                      </a:r>
                      <a:endParaRPr/>
                    </a:p>
                  </a:txBody>
                  <a:tcPr marT="91425" marB="91425" marR="91425" marL="91425"/>
                </a:tc>
              </a:tr>
              <a:tr h="364600">
                <a:tc>
                  <a:txBody>
                    <a:bodyPr/>
                    <a:lstStyle/>
                    <a:p>
                      <a:pPr indent="0" lvl="0" marL="0" rtl="0" algn="l">
                        <a:spcBef>
                          <a:spcPts val="0"/>
                        </a:spcBef>
                        <a:spcAft>
                          <a:spcPts val="0"/>
                        </a:spcAft>
                        <a:buNone/>
                      </a:pPr>
                      <a:r>
                        <a:rPr lang="en-US"/>
                        <a:t>ViT</a:t>
                      </a:r>
                      <a:endParaRPr/>
                    </a:p>
                  </a:txBody>
                  <a:tcPr marT="91425" marB="91425" marR="91425" marL="91425"/>
                </a:tc>
                <a:tc>
                  <a:txBody>
                    <a:bodyPr/>
                    <a:lstStyle/>
                    <a:p>
                      <a:pPr indent="0" lvl="0" marL="0" rtl="0" algn="l">
                        <a:spcBef>
                          <a:spcPts val="0"/>
                        </a:spcBef>
                        <a:spcAft>
                          <a:spcPts val="0"/>
                        </a:spcAft>
                        <a:buNone/>
                      </a:pPr>
                      <a:r>
                        <a:rPr lang="en-US"/>
                        <a:t>0.84</a:t>
                      </a:r>
                      <a:endParaRPr/>
                    </a:p>
                  </a:txBody>
                  <a:tcPr marT="91425" marB="91425" marR="91425" marL="91425"/>
                </a:tc>
                <a:tc>
                  <a:txBody>
                    <a:bodyPr/>
                    <a:lstStyle/>
                    <a:p>
                      <a:pPr indent="0" lvl="0" marL="0" rtl="0" algn="l">
                        <a:spcBef>
                          <a:spcPts val="0"/>
                        </a:spcBef>
                        <a:spcAft>
                          <a:spcPts val="0"/>
                        </a:spcAft>
                        <a:buNone/>
                      </a:pPr>
                      <a:r>
                        <a:rPr lang="en-US"/>
                        <a:t>0.75</a:t>
                      </a:r>
                      <a:endParaRPr/>
                    </a:p>
                  </a:txBody>
                  <a:tcPr marT="91425" marB="91425" marR="91425" marL="91425"/>
                </a:tc>
                <a:tc>
                  <a:txBody>
                    <a:bodyPr/>
                    <a:lstStyle/>
                    <a:p>
                      <a:pPr indent="0" lvl="0" marL="0" rtl="0" algn="l">
                        <a:spcBef>
                          <a:spcPts val="0"/>
                        </a:spcBef>
                        <a:spcAft>
                          <a:spcPts val="0"/>
                        </a:spcAft>
                        <a:buNone/>
                      </a:pPr>
                      <a:r>
                        <a:rPr lang="en-US"/>
                        <a:t>0.93</a:t>
                      </a:r>
                      <a:endParaRPr/>
                    </a:p>
                  </a:txBody>
                  <a:tcPr marT="91425" marB="91425" marR="91425" marL="91425"/>
                </a:tc>
                <a:tc>
                  <a:txBody>
                    <a:bodyPr/>
                    <a:lstStyle/>
                    <a:p>
                      <a:pPr indent="0" lvl="0" marL="0" rtl="0" algn="l">
                        <a:spcBef>
                          <a:spcPts val="0"/>
                        </a:spcBef>
                        <a:spcAft>
                          <a:spcPts val="0"/>
                        </a:spcAft>
                        <a:buNone/>
                      </a:pPr>
                      <a:r>
                        <a:rPr lang="en-US"/>
                        <a:t>0.86</a:t>
                      </a:r>
                      <a:endParaRPr/>
                    </a:p>
                  </a:txBody>
                  <a:tcPr marT="91425" marB="91425" marR="91425" marL="91425"/>
                </a:tc>
              </a:tr>
              <a:tr h="364600">
                <a:tc>
                  <a:txBody>
                    <a:bodyPr/>
                    <a:lstStyle/>
                    <a:p>
                      <a:pPr indent="0" lvl="0" marL="0" rtl="0" algn="l">
                        <a:spcBef>
                          <a:spcPts val="0"/>
                        </a:spcBef>
                        <a:spcAft>
                          <a:spcPts val="0"/>
                        </a:spcAft>
                        <a:buNone/>
                      </a:pPr>
                      <a:r>
                        <a:rPr lang="en-US"/>
                        <a:t>Hybrid (Concat)</a:t>
                      </a:r>
                      <a:endParaRPr/>
                    </a:p>
                  </a:txBody>
                  <a:tcPr marT="91425" marB="91425" marR="91425" marL="91425"/>
                </a:tc>
                <a:tc>
                  <a:txBody>
                    <a:bodyPr/>
                    <a:lstStyle/>
                    <a:p>
                      <a:pPr indent="0" lvl="0" marL="0" rtl="0" algn="l">
                        <a:spcBef>
                          <a:spcPts val="0"/>
                        </a:spcBef>
                        <a:spcAft>
                          <a:spcPts val="0"/>
                        </a:spcAft>
                        <a:buNone/>
                      </a:pPr>
                      <a:r>
                        <a:rPr lang="en-US"/>
                        <a:t> 0.74</a:t>
                      </a:r>
                      <a:endParaRPr/>
                    </a:p>
                  </a:txBody>
                  <a:tcPr marT="91425" marB="91425" marR="91425" marL="91425"/>
                </a:tc>
                <a:tc>
                  <a:txBody>
                    <a:bodyPr/>
                    <a:lstStyle/>
                    <a:p>
                      <a:pPr indent="0" lvl="0" marL="0" rtl="0" algn="l">
                        <a:spcBef>
                          <a:spcPts val="0"/>
                        </a:spcBef>
                        <a:spcAft>
                          <a:spcPts val="0"/>
                        </a:spcAft>
                        <a:buNone/>
                      </a:pPr>
                      <a:r>
                        <a:rPr lang="en-US"/>
                        <a:t>0.53</a:t>
                      </a:r>
                      <a:endParaRPr/>
                    </a:p>
                  </a:txBody>
                  <a:tcPr marT="91425" marB="91425" marR="91425" marL="91425"/>
                </a:tc>
                <a:tc>
                  <a:txBody>
                    <a:bodyPr/>
                    <a:lstStyle/>
                    <a:p>
                      <a:pPr indent="0" lvl="0" marL="0" rtl="0" algn="l">
                        <a:spcBef>
                          <a:spcPts val="0"/>
                        </a:spcBef>
                        <a:spcAft>
                          <a:spcPts val="0"/>
                        </a:spcAft>
                        <a:buNone/>
                      </a:pPr>
                      <a:r>
                        <a:rPr lang="en-US"/>
                        <a:t>0.95</a:t>
                      </a:r>
                      <a:endParaRPr/>
                    </a:p>
                  </a:txBody>
                  <a:tcPr marT="91425" marB="91425" marR="91425" marL="91425"/>
                </a:tc>
                <a:tc>
                  <a:txBody>
                    <a:bodyPr/>
                    <a:lstStyle/>
                    <a:p>
                      <a:pPr indent="0" lvl="0" marL="0" rtl="0" algn="l">
                        <a:spcBef>
                          <a:spcPts val="0"/>
                        </a:spcBef>
                        <a:spcAft>
                          <a:spcPts val="0"/>
                        </a:spcAft>
                        <a:buNone/>
                      </a:pPr>
                      <a:r>
                        <a:rPr lang="en-US"/>
                        <a:t>0.72</a:t>
                      </a:r>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Conclusion</a:t>
            </a:r>
            <a:endParaRPr/>
          </a:p>
        </p:txBody>
      </p:sp>
      <p:sp>
        <p:nvSpPr>
          <p:cNvPr id="287" name="Google Shape;28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360"/>
              </a:spcBef>
              <a:spcAft>
                <a:spcPts val="0"/>
              </a:spcAft>
              <a:buClr>
                <a:schemeClr val="dk1"/>
              </a:buClr>
              <a:buSzPts val="1800"/>
              <a:buChar char="●"/>
            </a:pPr>
            <a:r>
              <a:rPr lang="en-US"/>
              <a:t>The standard ViT baseline model performed better than our proposed hybrid architecture </a:t>
            </a:r>
            <a:endParaRPr/>
          </a:p>
          <a:p>
            <a:pPr indent="-285750" lvl="1" marL="742950" rtl="0" algn="l">
              <a:spcBef>
                <a:spcPts val="360"/>
              </a:spcBef>
              <a:spcAft>
                <a:spcPts val="0"/>
              </a:spcAft>
              <a:buSzPts val="1800"/>
              <a:buChar char="○"/>
            </a:pPr>
            <a:r>
              <a:rPr lang="en-US"/>
              <a:t>A significant limitation is the dataset imbalance,</a:t>
            </a:r>
            <a:endParaRPr/>
          </a:p>
          <a:p>
            <a:pPr indent="-285750" lvl="1" marL="742950" rtl="0" algn="l">
              <a:spcBef>
                <a:spcPts val="360"/>
              </a:spcBef>
              <a:spcAft>
                <a:spcPts val="0"/>
              </a:spcAft>
              <a:buSzPts val="1800"/>
              <a:buChar char="○"/>
            </a:pPr>
            <a:r>
              <a:rPr lang="en-US"/>
              <a:t>The validation set contains only 16 images, with no viral pneumonia cases, which limits its ability to provide a reliable estimate of model performance during hyperparameter tuning and model selection</a:t>
            </a:r>
            <a:endParaRPr/>
          </a:p>
          <a:p>
            <a:pPr indent="-285750" lvl="1" marL="742950" rtl="0" algn="l">
              <a:spcBef>
                <a:spcPts val="360"/>
              </a:spcBef>
              <a:spcAft>
                <a:spcPts val="0"/>
              </a:spcAft>
              <a:buSzPts val="1800"/>
              <a:buChar char="○"/>
            </a:pPr>
            <a:r>
              <a:rPr lang="en-US"/>
              <a:t>The hybrid -complex- architecture is not able to generalise well, especially given the small and </a:t>
            </a:r>
            <a:r>
              <a:rPr lang="en-US"/>
              <a:t>imbalanced </a:t>
            </a:r>
            <a:r>
              <a:rPr lang="en-US"/>
              <a:t>dataset </a:t>
            </a:r>
            <a:endParaRPr/>
          </a:p>
          <a:p>
            <a:pPr indent="-342900" lvl="0" marL="342900" rtl="0" algn="l">
              <a:spcBef>
                <a:spcPts val="360"/>
              </a:spcBef>
              <a:spcAft>
                <a:spcPts val="0"/>
              </a:spcAft>
              <a:buSzPts val="1800"/>
              <a:buChar char="●"/>
            </a:pPr>
            <a:r>
              <a:rPr lang="en-US"/>
              <a:t>Future work could explore with better split of dataset to improve diagnostic accuracy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